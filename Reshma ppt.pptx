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Arimo" panose="020B0604020202020204" charset="0"/>
      <p:regular r:id="rId14"/>
    </p:embeddedFont>
    <p:embeddedFont>
      <p:font typeface="Outfit Extra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878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txBody>
          <a:bodyPr/>
          <a:lstStyle/>
          <a:p>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299936"/>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Fashion-MNIST Classification with ANN and CNN Models</a:t>
            </a:r>
            <a:endParaRPr lang="en-US" sz="3900" dirty="0"/>
          </a:p>
        </p:txBody>
      </p:sp>
      <p:sp>
        <p:nvSpPr>
          <p:cNvPr id="3" name="Text 1"/>
          <p:cNvSpPr/>
          <p:nvPr/>
        </p:nvSpPr>
        <p:spPr>
          <a:xfrm>
            <a:off x="793790" y="4619387"/>
            <a:ext cx="3900249" cy="310158"/>
          </a:xfrm>
          <a:prstGeom prst="rect">
            <a:avLst/>
          </a:prstGeom>
          <a:noFill/>
          <a:ln/>
        </p:spPr>
        <p:txBody>
          <a:bodyPr wrap="none" lIns="0" tIns="0" rIns="0" bIns="0" rtlCol="0" anchor="t"/>
          <a:lstStyle/>
          <a:p>
            <a:pPr marL="0" indent="0" algn="l">
              <a:lnSpc>
                <a:spcPts val="2400"/>
              </a:lnSpc>
              <a:buNone/>
            </a:pPr>
            <a:r>
              <a:rPr lang="en-US" sz="1950" b="1" dirty="0">
                <a:solidFill>
                  <a:srgbClr val="231971"/>
                </a:solidFill>
                <a:latin typeface="Outfit Extra Bold" pitchFamily="34" charset="0"/>
                <a:ea typeface="Outfit Extra Bold" pitchFamily="34" charset="-122"/>
                <a:cs typeface="Outfit Extra Bold" pitchFamily="34" charset="-120"/>
              </a:rPr>
              <a:t>Reshma Mamidala • ID: P2904354</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81557"/>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Introduction</a:t>
            </a:r>
            <a:endParaRPr lang="en-US" sz="3900" dirty="0"/>
          </a:p>
        </p:txBody>
      </p:sp>
      <p:sp>
        <p:nvSpPr>
          <p:cNvPr id="3" name="Text 1"/>
          <p:cNvSpPr/>
          <p:nvPr/>
        </p:nvSpPr>
        <p:spPr>
          <a:xfrm>
            <a:off x="793790" y="3097649"/>
            <a:ext cx="3093244"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Background &amp; Context</a:t>
            </a:r>
            <a:endParaRPr lang="en-US" sz="2300" dirty="0"/>
          </a:p>
        </p:txBody>
      </p:sp>
      <p:sp>
        <p:nvSpPr>
          <p:cNvPr id="4" name="Text 2"/>
          <p:cNvSpPr/>
          <p:nvPr/>
        </p:nvSpPr>
        <p:spPr>
          <a:xfrm>
            <a:off x="793790" y="366807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This project explores image classification using two distinct neural network architectures on the Fashion-MNIST dataset. Fashion-MNIST serves as a benchmark dataset containing 28x28 pixel grayscale images of clothing items across 10 categories.</a:t>
            </a:r>
            <a:endParaRPr lang="en-US" sz="1550" dirty="0"/>
          </a:p>
        </p:txBody>
      </p:sp>
      <p:sp>
        <p:nvSpPr>
          <p:cNvPr id="5" name="Text 3"/>
          <p:cNvSpPr/>
          <p:nvPr/>
        </p:nvSpPr>
        <p:spPr>
          <a:xfrm>
            <a:off x="793790" y="5116830"/>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The challenge lies in accurately distinguishing between visually similar fashion items, making it an ideal testbed for comparing neural network approaches.</a:t>
            </a:r>
            <a:endParaRPr lang="en-US" sz="1550" dirty="0"/>
          </a:p>
        </p:txBody>
      </p:sp>
      <p:sp>
        <p:nvSpPr>
          <p:cNvPr id="6" name="Text 4"/>
          <p:cNvSpPr/>
          <p:nvPr/>
        </p:nvSpPr>
        <p:spPr>
          <a:xfrm>
            <a:off x="7564874" y="309764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The Problem</a:t>
            </a:r>
            <a:endParaRPr lang="en-US" sz="2300" dirty="0"/>
          </a:p>
        </p:txBody>
      </p:sp>
      <p:sp>
        <p:nvSpPr>
          <p:cNvPr id="7" name="Text 5"/>
          <p:cNvSpPr/>
          <p:nvPr/>
        </p:nvSpPr>
        <p:spPr>
          <a:xfrm>
            <a:off x="7564874" y="3668078"/>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Traditional machine learning approaches struggle with image classification tasks due to the high dimensionality and spatial relationships in image data. This project addresses the question: How do different neural network architectures perform on fashion item classification?</a:t>
            </a:r>
            <a:endParaRPr lang="en-US" sz="1550" dirty="0"/>
          </a:p>
        </p:txBody>
      </p:sp>
      <p:sp>
        <p:nvSpPr>
          <p:cNvPr id="8" name="Text 6"/>
          <p:cNvSpPr/>
          <p:nvPr/>
        </p:nvSpPr>
        <p:spPr>
          <a:xfrm>
            <a:off x="7564874" y="5434370"/>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We aim to compare the effectiveness of basic feedforward networks versus convolutional architectures.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08077"/>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Objectives &amp; Goals</a:t>
            </a:r>
            <a:endParaRPr lang="en-US" sz="3900" dirty="0"/>
          </a:p>
        </p:txBody>
      </p:sp>
      <p:sp>
        <p:nvSpPr>
          <p:cNvPr id="3" name="Shape 1"/>
          <p:cNvSpPr/>
          <p:nvPr/>
        </p:nvSpPr>
        <p:spPr>
          <a:xfrm>
            <a:off x="793790" y="1824990"/>
            <a:ext cx="6422231" cy="2269927"/>
          </a:xfrm>
          <a:prstGeom prst="roundRect">
            <a:avLst>
              <a:gd name="adj" fmla="val 3672"/>
            </a:avLst>
          </a:prstGeom>
          <a:solidFill>
            <a:srgbClr val="E9E6FA"/>
          </a:solidFill>
          <a:ln w="7620">
            <a:solidFill>
              <a:srgbClr val="BDB8DF"/>
            </a:solidFill>
            <a:prstDash val="solid"/>
          </a:ln>
        </p:spPr>
        <p:txBody>
          <a:bodyPr/>
          <a:lstStyle/>
          <a:p>
            <a:endParaRPr lang="en-IN"/>
          </a:p>
        </p:txBody>
      </p:sp>
      <p:sp>
        <p:nvSpPr>
          <p:cNvPr id="4" name="Shape 2"/>
          <p:cNvSpPr/>
          <p:nvPr/>
        </p:nvSpPr>
        <p:spPr>
          <a:xfrm>
            <a:off x="999768" y="2030968"/>
            <a:ext cx="595313" cy="595313"/>
          </a:xfrm>
          <a:prstGeom prst="roundRect">
            <a:avLst>
              <a:gd name="adj" fmla="val 15358451"/>
            </a:avLst>
          </a:prstGeom>
          <a:solidFill>
            <a:srgbClr val="5E4CE6"/>
          </a:solidFill>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2194560"/>
            <a:ext cx="267891" cy="267891"/>
          </a:xfrm>
          <a:prstGeom prst="rect">
            <a:avLst/>
          </a:prstGeom>
        </p:spPr>
      </p:pic>
      <p:sp>
        <p:nvSpPr>
          <p:cNvPr id="6" name="Text 3"/>
          <p:cNvSpPr/>
          <p:nvPr/>
        </p:nvSpPr>
        <p:spPr>
          <a:xfrm>
            <a:off x="999768" y="282463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Develop Two Models</a:t>
            </a:r>
            <a:endParaRPr lang="en-US" sz="1950" dirty="0"/>
          </a:p>
        </p:txBody>
      </p:sp>
      <p:sp>
        <p:nvSpPr>
          <p:cNvPr id="7" name="Text 4"/>
          <p:cNvSpPr/>
          <p:nvPr/>
        </p:nvSpPr>
        <p:spPr>
          <a:xfrm>
            <a:off x="999768" y="3253859"/>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Create and implement both ANN and CNN architectures for Fashion-MNIST classification</a:t>
            </a:r>
            <a:endParaRPr lang="en-US" sz="1550" dirty="0"/>
          </a:p>
        </p:txBody>
      </p:sp>
      <p:sp>
        <p:nvSpPr>
          <p:cNvPr id="8" name="Shape 5"/>
          <p:cNvSpPr/>
          <p:nvPr/>
        </p:nvSpPr>
        <p:spPr>
          <a:xfrm>
            <a:off x="7414379" y="1824990"/>
            <a:ext cx="6422231" cy="2269927"/>
          </a:xfrm>
          <a:prstGeom prst="roundRect">
            <a:avLst>
              <a:gd name="adj" fmla="val 3672"/>
            </a:avLst>
          </a:prstGeom>
          <a:solidFill>
            <a:srgbClr val="E9E6FA"/>
          </a:solidFill>
          <a:ln w="7620">
            <a:solidFill>
              <a:srgbClr val="BDB8DF"/>
            </a:solidFill>
            <a:prstDash val="solid"/>
          </a:ln>
        </p:spPr>
        <p:txBody>
          <a:bodyPr/>
          <a:lstStyle/>
          <a:p>
            <a:endParaRPr lang="en-IN"/>
          </a:p>
        </p:txBody>
      </p:sp>
      <p:sp>
        <p:nvSpPr>
          <p:cNvPr id="9" name="Shape 6"/>
          <p:cNvSpPr/>
          <p:nvPr/>
        </p:nvSpPr>
        <p:spPr>
          <a:xfrm>
            <a:off x="7620357" y="2030968"/>
            <a:ext cx="595313" cy="595313"/>
          </a:xfrm>
          <a:prstGeom prst="roundRect">
            <a:avLst>
              <a:gd name="adj" fmla="val 15358451"/>
            </a:avLst>
          </a:prstGeom>
          <a:solidFill>
            <a:srgbClr val="5E4CE6"/>
          </a:solidFill>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4068" y="2194560"/>
            <a:ext cx="267891" cy="267891"/>
          </a:xfrm>
          <a:prstGeom prst="rect">
            <a:avLst/>
          </a:prstGeom>
        </p:spPr>
      </p:pic>
      <p:sp>
        <p:nvSpPr>
          <p:cNvPr id="11" name="Text 7"/>
          <p:cNvSpPr/>
          <p:nvPr/>
        </p:nvSpPr>
        <p:spPr>
          <a:xfrm>
            <a:off x="7620357" y="2824639"/>
            <a:ext cx="2649736"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Compare Performance</a:t>
            </a:r>
            <a:endParaRPr lang="en-US" sz="1950" dirty="0"/>
          </a:p>
        </p:txBody>
      </p:sp>
      <p:sp>
        <p:nvSpPr>
          <p:cNvPr id="12" name="Text 8"/>
          <p:cNvSpPr/>
          <p:nvPr/>
        </p:nvSpPr>
        <p:spPr>
          <a:xfrm>
            <a:off x="7620357" y="3253859"/>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Evaluate and measure accuracy and loss metrics across both network types</a:t>
            </a:r>
            <a:endParaRPr lang="en-US" sz="1550" dirty="0"/>
          </a:p>
        </p:txBody>
      </p:sp>
      <p:sp>
        <p:nvSpPr>
          <p:cNvPr id="13" name="Shape 9"/>
          <p:cNvSpPr/>
          <p:nvPr/>
        </p:nvSpPr>
        <p:spPr>
          <a:xfrm>
            <a:off x="793790" y="4293275"/>
            <a:ext cx="6422231" cy="2269927"/>
          </a:xfrm>
          <a:prstGeom prst="roundRect">
            <a:avLst>
              <a:gd name="adj" fmla="val 3672"/>
            </a:avLst>
          </a:prstGeom>
          <a:solidFill>
            <a:srgbClr val="E9E6FA"/>
          </a:solidFill>
          <a:ln w="7620">
            <a:solidFill>
              <a:srgbClr val="BDB8DF"/>
            </a:solidFill>
            <a:prstDash val="solid"/>
          </a:ln>
        </p:spPr>
        <p:txBody>
          <a:bodyPr/>
          <a:lstStyle/>
          <a:p>
            <a:endParaRPr lang="en-IN"/>
          </a:p>
        </p:txBody>
      </p:sp>
      <p:sp>
        <p:nvSpPr>
          <p:cNvPr id="14" name="Shape 10"/>
          <p:cNvSpPr/>
          <p:nvPr/>
        </p:nvSpPr>
        <p:spPr>
          <a:xfrm>
            <a:off x="999768" y="4499253"/>
            <a:ext cx="595313" cy="595313"/>
          </a:xfrm>
          <a:prstGeom prst="roundRect">
            <a:avLst>
              <a:gd name="adj" fmla="val 15358451"/>
            </a:avLst>
          </a:prstGeom>
          <a:solidFill>
            <a:srgbClr val="5E4CE6"/>
          </a:solidFill>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3479" y="4662845"/>
            <a:ext cx="267891" cy="267891"/>
          </a:xfrm>
          <a:prstGeom prst="rect">
            <a:avLst/>
          </a:prstGeom>
        </p:spPr>
      </p:pic>
      <p:sp>
        <p:nvSpPr>
          <p:cNvPr id="16" name="Text 11"/>
          <p:cNvSpPr/>
          <p:nvPr/>
        </p:nvSpPr>
        <p:spPr>
          <a:xfrm>
            <a:off x="999768" y="5292923"/>
            <a:ext cx="2903934"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Optimize Through Tuning</a:t>
            </a:r>
            <a:endParaRPr lang="en-US" sz="1950" dirty="0"/>
          </a:p>
        </p:txBody>
      </p:sp>
      <p:sp>
        <p:nvSpPr>
          <p:cNvPr id="17" name="Text 12"/>
          <p:cNvSpPr/>
          <p:nvPr/>
        </p:nvSpPr>
        <p:spPr>
          <a:xfrm>
            <a:off x="999768" y="5722144"/>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Conduct hyperparameter tuning to identify optimal configurations for each model</a:t>
            </a:r>
            <a:endParaRPr lang="en-US" sz="1550" dirty="0"/>
          </a:p>
        </p:txBody>
      </p:sp>
      <p:sp>
        <p:nvSpPr>
          <p:cNvPr id="18" name="Shape 13"/>
          <p:cNvSpPr/>
          <p:nvPr/>
        </p:nvSpPr>
        <p:spPr>
          <a:xfrm>
            <a:off x="7414379" y="4293275"/>
            <a:ext cx="6422231" cy="2269927"/>
          </a:xfrm>
          <a:prstGeom prst="roundRect">
            <a:avLst>
              <a:gd name="adj" fmla="val 3672"/>
            </a:avLst>
          </a:prstGeom>
          <a:solidFill>
            <a:srgbClr val="E9E6FA"/>
          </a:solidFill>
          <a:ln w="7620">
            <a:solidFill>
              <a:srgbClr val="BDB8DF"/>
            </a:solidFill>
            <a:prstDash val="solid"/>
          </a:ln>
        </p:spPr>
        <p:txBody>
          <a:bodyPr/>
          <a:lstStyle/>
          <a:p>
            <a:endParaRPr lang="en-IN"/>
          </a:p>
        </p:txBody>
      </p:sp>
      <p:sp>
        <p:nvSpPr>
          <p:cNvPr id="19" name="Shape 14"/>
          <p:cNvSpPr/>
          <p:nvPr/>
        </p:nvSpPr>
        <p:spPr>
          <a:xfrm>
            <a:off x="7620357" y="4499253"/>
            <a:ext cx="595313" cy="595313"/>
          </a:xfrm>
          <a:prstGeom prst="roundRect">
            <a:avLst>
              <a:gd name="adj" fmla="val 15358451"/>
            </a:avLst>
          </a:prstGeom>
          <a:solidFill>
            <a:srgbClr val="5E4CE6"/>
          </a:solidFill>
          <a:ln/>
        </p:spPr>
        <p:txBody>
          <a:bodyPr/>
          <a:lstStyle/>
          <a:p>
            <a:endParaRPr lang="en-IN"/>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84068" y="4662845"/>
            <a:ext cx="267891" cy="267891"/>
          </a:xfrm>
          <a:prstGeom prst="rect">
            <a:avLst/>
          </a:prstGeom>
        </p:spPr>
      </p:pic>
      <p:sp>
        <p:nvSpPr>
          <p:cNvPr id="21" name="Text 15"/>
          <p:cNvSpPr/>
          <p:nvPr/>
        </p:nvSpPr>
        <p:spPr>
          <a:xfrm>
            <a:off x="7620357" y="5292923"/>
            <a:ext cx="3481030"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Demonstrate CNN Superiority</a:t>
            </a:r>
            <a:endParaRPr lang="en-US" sz="1950" dirty="0"/>
          </a:p>
        </p:txBody>
      </p:sp>
      <p:sp>
        <p:nvSpPr>
          <p:cNvPr id="22" name="Text 16"/>
          <p:cNvSpPr/>
          <p:nvPr/>
        </p:nvSpPr>
        <p:spPr>
          <a:xfrm>
            <a:off x="7620357" y="5722144"/>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Show how convolutional networks better capture spatial hierarchies in image data</a:t>
            </a:r>
            <a:endParaRPr lang="en-US" sz="1550" dirty="0"/>
          </a:p>
        </p:txBody>
      </p:sp>
      <p:sp>
        <p:nvSpPr>
          <p:cNvPr id="23" name="Text 17"/>
          <p:cNvSpPr/>
          <p:nvPr/>
        </p:nvSpPr>
        <p:spPr>
          <a:xfrm>
            <a:off x="793790" y="678644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Expected outcomes include achieving high classification accuracy, identifying optimal hyperparameters, and providing clear evidence of CNN advantages for image classification tasks.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40267"/>
            <a:ext cx="5855970"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Methodology &amp; Approach</a:t>
            </a:r>
            <a:endParaRPr lang="en-US" sz="3900" dirty="0"/>
          </a:p>
        </p:txBody>
      </p:sp>
      <p:sp>
        <p:nvSpPr>
          <p:cNvPr id="3" name="Text 1"/>
          <p:cNvSpPr/>
          <p:nvPr/>
        </p:nvSpPr>
        <p:spPr>
          <a:xfrm>
            <a:off x="793790" y="325635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Model Architectures</a:t>
            </a:r>
            <a:endParaRPr lang="en-US" sz="2300" dirty="0"/>
          </a:p>
        </p:txBody>
      </p:sp>
      <p:sp>
        <p:nvSpPr>
          <p:cNvPr id="4" name="Text 2"/>
          <p:cNvSpPr/>
          <p:nvPr/>
        </p:nvSpPr>
        <p:spPr>
          <a:xfrm>
            <a:off x="793790" y="3826788"/>
            <a:ext cx="5602962" cy="952619"/>
          </a:xfrm>
          <a:prstGeom prst="rect">
            <a:avLst/>
          </a:prstGeom>
          <a:noFill/>
          <a:ln/>
        </p:spPr>
        <p:txBody>
          <a:bodyPr wrap="square" lIns="0" tIns="0" rIns="0" bIns="0" rtlCol="0" anchor="t"/>
          <a:lstStyle/>
          <a:p>
            <a:pPr marL="0" indent="0" algn="l">
              <a:lnSpc>
                <a:spcPts val="2500"/>
              </a:lnSpc>
              <a:buNone/>
            </a:pPr>
            <a:r>
              <a:rPr lang="en-US" sz="1550" b="1" dirty="0">
                <a:solidFill>
                  <a:srgbClr val="2A2742"/>
                </a:solidFill>
                <a:latin typeface="Arimo" pitchFamily="34" charset="0"/>
                <a:ea typeface="Arimo" pitchFamily="34" charset="-122"/>
                <a:cs typeface="Arimo" pitchFamily="34" charset="-120"/>
              </a:rPr>
              <a:t>Artificial Neural Network (ANN):</a:t>
            </a:r>
            <a:r>
              <a:rPr lang="en-US" sz="1550" dirty="0">
                <a:solidFill>
                  <a:srgbClr val="2A2742"/>
                </a:solidFill>
                <a:latin typeface="Arimo" pitchFamily="34" charset="0"/>
                <a:ea typeface="Arimo" pitchFamily="34" charset="-122"/>
                <a:cs typeface="Arimo" pitchFamily="34" charset="-120"/>
              </a:rPr>
              <a:t> A feedforward network with three fully connected layers using ReLU activation functions. Input layer flattened to match 28x28 pixel dimensions.</a:t>
            </a:r>
            <a:endParaRPr lang="en-US" sz="1550" dirty="0"/>
          </a:p>
        </p:txBody>
      </p:sp>
      <p:sp>
        <p:nvSpPr>
          <p:cNvPr id="5" name="Text 3"/>
          <p:cNvSpPr/>
          <p:nvPr/>
        </p:nvSpPr>
        <p:spPr>
          <a:xfrm>
            <a:off x="793790" y="4958001"/>
            <a:ext cx="5602962" cy="952619"/>
          </a:xfrm>
          <a:prstGeom prst="rect">
            <a:avLst/>
          </a:prstGeom>
          <a:noFill/>
          <a:ln/>
        </p:spPr>
        <p:txBody>
          <a:bodyPr wrap="square" lIns="0" tIns="0" rIns="0" bIns="0" rtlCol="0" anchor="t"/>
          <a:lstStyle/>
          <a:p>
            <a:pPr marL="0" indent="0" algn="l">
              <a:lnSpc>
                <a:spcPts val="2500"/>
              </a:lnSpc>
              <a:buNone/>
            </a:pPr>
            <a:r>
              <a:rPr lang="en-US" sz="1550" b="1" dirty="0">
                <a:solidFill>
                  <a:srgbClr val="2A2742"/>
                </a:solidFill>
                <a:latin typeface="Arimo" pitchFamily="34" charset="0"/>
                <a:ea typeface="Arimo" pitchFamily="34" charset="-122"/>
                <a:cs typeface="Arimo" pitchFamily="34" charset="-120"/>
              </a:rPr>
              <a:t>Convolutional Neural Network (CNN):</a:t>
            </a:r>
            <a:r>
              <a:rPr lang="en-US" sz="1550" dirty="0">
                <a:solidFill>
                  <a:srgbClr val="2A2742"/>
                </a:solidFill>
                <a:latin typeface="Arimo" pitchFamily="34" charset="0"/>
                <a:ea typeface="Arimo" pitchFamily="34" charset="-122"/>
                <a:cs typeface="Arimo" pitchFamily="34" charset="-120"/>
              </a:rPr>
              <a:t> Architecture featuring two convolutional layers, one max pooling layer, and two fully connected layers designed to capture spatial hierarchies.</a:t>
            </a:r>
            <a:endParaRPr lang="en-US" sz="1550" dirty="0"/>
          </a:p>
        </p:txBody>
      </p:sp>
      <p:sp>
        <p:nvSpPr>
          <p:cNvPr id="6" name="Text 4"/>
          <p:cNvSpPr/>
          <p:nvPr/>
        </p:nvSpPr>
        <p:spPr>
          <a:xfrm>
            <a:off x="6888480" y="325635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Tools &amp; Techniques</a:t>
            </a:r>
            <a:endParaRPr lang="en-US" sz="2300" dirty="0"/>
          </a:p>
        </p:txBody>
      </p:sp>
      <p:sp>
        <p:nvSpPr>
          <p:cNvPr id="7" name="Text 5"/>
          <p:cNvSpPr/>
          <p:nvPr/>
        </p:nvSpPr>
        <p:spPr>
          <a:xfrm>
            <a:off x="6888480" y="3826788"/>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Fashion-MNIST dataset for training and testing</a:t>
            </a:r>
            <a:endParaRPr lang="en-US" sz="1550" dirty="0"/>
          </a:p>
        </p:txBody>
      </p:sp>
      <p:sp>
        <p:nvSpPr>
          <p:cNvPr id="8" name="Text 6"/>
          <p:cNvSpPr/>
          <p:nvPr/>
        </p:nvSpPr>
        <p:spPr>
          <a:xfrm>
            <a:off x="6888480" y="4213741"/>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Multiple optimizer options: SGD and RMSprop</a:t>
            </a:r>
            <a:endParaRPr lang="en-US" sz="1550" dirty="0"/>
          </a:p>
        </p:txBody>
      </p:sp>
      <p:sp>
        <p:nvSpPr>
          <p:cNvPr id="9" name="Text 7"/>
          <p:cNvSpPr/>
          <p:nvPr/>
        </p:nvSpPr>
        <p:spPr>
          <a:xfrm>
            <a:off x="6888480" y="4600694"/>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Batch sizes tested: 32 and 64</a:t>
            </a:r>
            <a:endParaRPr lang="en-US" sz="1550" dirty="0"/>
          </a:p>
        </p:txBody>
      </p:sp>
      <p:sp>
        <p:nvSpPr>
          <p:cNvPr id="10" name="Text 8"/>
          <p:cNvSpPr/>
          <p:nvPr/>
        </p:nvSpPr>
        <p:spPr>
          <a:xfrm>
            <a:off x="6888480" y="4987647"/>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Learning rates evaluated: 0.01 and 0.001</a:t>
            </a:r>
            <a:endParaRPr lang="en-US" sz="1550" dirty="0"/>
          </a:p>
        </p:txBody>
      </p:sp>
      <p:sp>
        <p:nvSpPr>
          <p:cNvPr id="11" name="Text 9"/>
          <p:cNvSpPr/>
          <p:nvPr/>
        </p:nvSpPr>
        <p:spPr>
          <a:xfrm>
            <a:off x="6888480" y="5374600"/>
            <a:ext cx="695563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Confusion matrices for performance visualization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84584"/>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Data &amp; Materials</a:t>
            </a:r>
            <a:endParaRPr lang="en-US" sz="39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401497"/>
            <a:ext cx="496133" cy="496133"/>
          </a:xfrm>
          <a:prstGeom prst="rect">
            <a:avLst/>
          </a:prstGeom>
        </p:spPr>
      </p:pic>
      <p:sp>
        <p:nvSpPr>
          <p:cNvPr id="4" name="Text 1"/>
          <p:cNvSpPr/>
          <p:nvPr/>
        </p:nvSpPr>
        <p:spPr>
          <a:xfrm>
            <a:off x="793790" y="4145637"/>
            <a:ext cx="2787372"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Fashion-MNIST Dataset</a:t>
            </a:r>
            <a:endParaRPr lang="en-US" sz="1950" dirty="0"/>
          </a:p>
        </p:txBody>
      </p:sp>
      <p:sp>
        <p:nvSpPr>
          <p:cNvPr id="5" name="Text 2"/>
          <p:cNvSpPr/>
          <p:nvPr/>
        </p:nvSpPr>
        <p:spPr>
          <a:xfrm>
            <a:off x="793790" y="4574858"/>
            <a:ext cx="4182189" cy="127015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Standard benchmark dataset containing 70,000 grayscale images (60,000 training, 10,000 testing) across 10 fashion categories including shirts, trousers, dresses, coats, and footwear.</a:t>
            </a:r>
            <a:endParaRPr lang="en-US" sz="15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3986" y="3401497"/>
            <a:ext cx="496133" cy="496133"/>
          </a:xfrm>
          <a:prstGeom prst="rect">
            <a:avLst/>
          </a:prstGeom>
        </p:spPr>
      </p:pic>
      <p:sp>
        <p:nvSpPr>
          <p:cNvPr id="7" name="Text 3"/>
          <p:cNvSpPr/>
          <p:nvPr/>
        </p:nvSpPr>
        <p:spPr>
          <a:xfrm>
            <a:off x="5223986" y="414563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Image Specifications</a:t>
            </a:r>
            <a:endParaRPr lang="en-US" sz="1950" dirty="0"/>
          </a:p>
        </p:txBody>
      </p:sp>
      <p:sp>
        <p:nvSpPr>
          <p:cNvPr id="8" name="Text 4"/>
          <p:cNvSpPr/>
          <p:nvPr/>
        </p:nvSpPr>
        <p:spPr>
          <a:xfrm>
            <a:off x="5223986" y="4574858"/>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Each image is 28x28 pixels in grayscale format. Images were preprocessed and normalized for optimal neural network training. Input layer flattened for ANN architecture.</a:t>
            </a:r>
            <a:endParaRPr lang="en-US" sz="15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4302" y="3401497"/>
            <a:ext cx="496133" cy="496133"/>
          </a:xfrm>
          <a:prstGeom prst="rect">
            <a:avLst/>
          </a:prstGeom>
        </p:spPr>
      </p:pic>
      <p:sp>
        <p:nvSpPr>
          <p:cNvPr id="10" name="Text 5"/>
          <p:cNvSpPr/>
          <p:nvPr/>
        </p:nvSpPr>
        <p:spPr>
          <a:xfrm>
            <a:off x="9654302" y="414563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Key Parameters</a:t>
            </a:r>
            <a:endParaRPr lang="en-US" sz="1950" dirty="0"/>
          </a:p>
        </p:txBody>
      </p:sp>
      <p:sp>
        <p:nvSpPr>
          <p:cNvPr id="11" name="Text 6"/>
          <p:cNvSpPr/>
          <p:nvPr/>
        </p:nvSpPr>
        <p:spPr>
          <a:xfrm>
            <a:off x="9654302" y="4574858"/>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Hyperparameter configurations included batch sizes (32, 64), learning rates (0.01, 0.001), and optimizers (SGD, RMSprop) tested systematically across both models.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56573"/>
            <a:ext cx="560439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Implementation Process</a:t>
            </a:r>
            <a:endParaRPr lang="en-US" sz="3900" dirty="0"/>
          </a:p>
        </p:txBody>
      </p:sp>
      <p:sp>
        <p:nvSpPr>
          <p:cNvPr id="3" name="Shape 1"/>
          <p:cNvSpPr/>
          <p:nvPr/>
        </p:nvSpPr>
        <p:spPr>
          <a:xfrm>
            <a:off x="7303770" y="2173486"/>
            <a:ext cx="22860" cy="4899422"/>
          </a:xfrm>
          <a:prstGeom prst="roundRect">
            <a:avLst>
              <a:gd name="adj" fmla="val 364651"/>
            </a:avLst>
          </a:prstGeom>
          <a:solidFill>
            <a:srgbClr val="BDB8DF"/>
          </a:solidFill>
          <a:ln/>
        </p:spPr>
        <p:txBody>
          <a:bodyPr/>
          <a:lstStyle/>
          <a:p>
            <a:endParaRPr lang="en-IN"/>
          </a:p>
        </p:txBody>
      </p:sp>
      <p:sp>
        <p:nvSpPr>
          <p:cNvPr id="4" name="Shape 2"/>
          <p:cNvSpPr/>
          <p:nvPr/>
        </p:nvSpPr>
        <p:spPr>
          <a:xfrm>
            <a:off x="6519505" y="2385298"/>
            <a:ext cx="595313" cy="22860"/>
          </a:xfrm>
          <a:prstGeom prst="roundRect">
            <a:avLst>
              <a:gd name="adj" fmla="val 364651"/>
            </a:avLst>
          </a:prstGeom>
          <a:solidFill>
            <a:srgbClr val="BDB8DF"/>
          </a:solidFill>
          <a:ln/>
        </p:spPr>
        <p:txBody>
          <a:bodyPr/>
          <a:lstStyle/>
          <a:p>
            <a:endParaRPr lang="en-IN"/>
          </a:p>
        </p:txBody>
      </p:sp>
      <p:sp>
        <p:nvSpPr>
          <p:cNvPr id="5" name="Shape 3"/>
          <p:cNvSpPr/>
          <p:nvPr/>
        </p:nvSpPr>
        <p:spPr>
          <a:xfrm>
            <a:off x="7091958" y="2173486"/>
            <a:ext cx="446484" cy="446484"/>
          </a:xfrm>
          <a:prstGeom prst="roundRect">
            <a:avLst>
              <a:gd name="adj" fmla="val 18670"/>
            </a:avLst>
          </a:prstGeom>
          <a:solidFill>
            <a:srgbClr val="E9E6FA"/>
          </a:solidFill>
          <a:ln w="7620">
            <a:solidFill>
              <a:srgbClr val="BDB8DF"/>
            </a:solidFill>
            <a:prstDash val="solid"/>
          </a:ln>
        </p:spPr>
        <p:txBody>
          <a:bodyPr/>
          <a:lstStyle/>
          <a:p>
            <a:endParaRPr lang="en-IN"/>
          </a:p>
        </p:txBody>
      </p:sp>
      <p:sp>
        <p:nvSpPr>
          <p:cNvPr id="6" name="Text 4"/>
          <p:cNvSpPr/>
          <p:nvPr/>
        </p:nvSpPr>
        <p:spPr>
          <a:xfrm>
            <a:off x="7166372" y="2210693"/>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1</a:t>
            </a:r>
            <a:endParaRPr lang="en-US" sz="2300" dirty="0"/>
          </a:p>
        </p:txBody>
      </p:sp>
      <p:sp>
        <p:nvSpPr>
          <p:cNvPr id="7" name="Text 5"/>
          <p:cNvSpPr/>
          <p:nvPr/>
        </p:nvSpPr>
        <p:spPr>
          <a:xfrm>
            <a:off x="3842028" y="2241709"/>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Model Development</a:t>
            </a:r>
            <a:endParaRPr lang="en-US" sz="1950" dirty="0"/>
          </a:p>
        </p:txBody>
      </p:sp>
      <p:sp>
        <p:nvSpPr>
          <p:cNvPr id="8" name="Text 6"/>
          <p:cNvSpPr/>
          <p:nvPr/>
        </p:nvSpPr>
        <p:spPr>
          <a:xfrm>
            <a:off x="793790" y="2670929"/>
            <a:ext cx="5529143" cy="952619"/>
          </a:xfrm>
          <a:prstGeom prst="rect">
            <a:avLst/>
          </a:prstGeom>
          <a:noFill/>
          <a:ln/>
        </p:spPr>
        <p:txBody>
          <a:bodyPr wrap="square" lIns="0" tIns="0" rIns="0" bIns="0" rtlCol="0" anchor="t"/>
          <a:lstStyle/>
          <a:p>
            <a:pPr marL="0" indent="0" algn="r">
              <a:lnSpc>
                <a:spcPts val="2500"/>
              </a:lnSpc>
              <a:buNone/>
            </a:pPr>
            <a:r>
              <a:rPr lang="en-US" sz="1550" dirty="0">
                <a:solidFill>
                  <a:srgbClr val="2A2742"/>
                </a:solidFill>
                <a:latin typeface="Arimo" pitchFamily="34" charset="0"/>
                <a:ea typeface="Arimo" pitchFamily="34" charset="-122"/>
                <a:cs typeface="Arimo" pitchFamily="34" charset="-120"/>
              </a:rPr>
              <a:t>Built ANN with three fully connected layers and CNN with convolutional and pooling layers. Implemented ReLU activation functions throughout both architectures.</a:t>
            </a:r>
            <a:endParaRPr lang="en-US" sz="1550" dirty="0"/>
          </a:p>
        </p:txBody>
      </p:sp>
      <p:sp>
        <p:nvSpPr>
          <p:cNvPr id="9" name="Shape 7"/>
          <p:cNvSpPr/>
          <p:nvPr/>
        </p:nvSpPr>
        <p:spPr>
          <a:xfrm>
            <a:off x="7515582" y="3575923"/>
            <a:ext cx="595313" cy="22860"/>
          </a:xfrm>
          <a:prstGeom prst="roundRect">
            <a:avLst>
              <a:gd name="adj" fmla="val 364651"/>
            </a:avLst>
          </a:prstGeom>
          <a:solidFill>
            <a:srgbClr val="BDB8DF"/>
          </a:solidFill>
          <a:ln/>
        </p:spPr>
        <p:txBody>
          <a:bodyPr/>
          <a:lstStyle/>
          <a:p>
            <a:endParaRPr lang="en-IN"/>
          </a:p>
        </p:txBody>
      </p:sp>
      <p:sp>
        <p:nvSpPr>
          <p:cNvPr id="10" name="Shape 8"/>
          <p:cNvSpPr/>
          <p:nvPr/>
        </p:nvSpPr>
        <p:spPr>
          <a:xfrm>
            <a:off x="7091958" y="3364111"/>
            <a:ext cx="446484" cy="446484"/>
          </a:xfrm>
          <a:prstGeom prst="roundRect">
            <a:avLst>
              <a:gd name="adj" fmla="val 18670"/>
            </a:avLst>
          </a:prstGeom>
          <a:solidFill>
            <a:srgbClr val="E9E6FA"/>
          </a:solidFill>
          <a:ln w="7620">
            <a:solidFill>
              <a:srgbClr val="BDB8DF"/>
            </a:solidFill>
            <a:prstDash val="solid"/>
          </a:ln>
        </p:spPr>
        <p:txBody>
          <a:bodyPr/>
          <a:lstStyle/>
          <a:p>
            <a:endParaRPr lang="en-IN"/>
          </a:p>
        </p:txBody>
      </p:sp>
      <p:sp>
        <p:nvSpPr>
          <p:cNvPr id="11" name="Text 9"/>
          <p:cNvSpPr/>
          <p:nvPr/>
        </p:nvSpPr>
        <p:spPr>
          <a:xfrm>
            <a:off x="7166372" y="3401318"/>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2</a:t>
            </a:r>
            <a:endParaRPr lang="en-US" sz="2300" dirty="0"/>
          </a:p>
        </p:txBody>
      </p:sp>
      <p:sp>
        <p:nvSpPr>
          <p:cNvPr id="12" name="Text 10"/>
          <p:cNvSpPr/>
          <p:nvPr/>
        </p:nvSpPr>
        <p:spPr>
          <a:xfrm>
            <a:off x="8307467" y="343233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Initial Training</a:t>
            </a:r>
            <a:endParaRPr lang="en-US" sz="1950" dirty="0"/>
          </a:p>
        </p:txBody>
      </p:sp>
      <p:sp>
        <p:nvSpPr>
          <p:cNvPr id="13" name="Text 11"/>
          <p:cNvSpPr/>
          <p:nvPr/>
        </p:nvSpPr>
        <p:spPr>
          <a:xfrm>
            <a:off x="8307467" y="3861554"/>
            <a:ext cx="5529143" cy="95261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Trained both models on Fashion-MNIST dataset using default hyperparameters. Evaluated performance on test set to establish baseline accuracy metrics.</a:t>
            </a:r>
            <a:endParaRPr lang="en-US" sz="1550" dirty="0"/>
          </a:p>
        </p:txBody>
      </p:sp>
      <p:sp>
        <p:nvSpPr>
          <p:cNvPr id="14" name="Shape 12"/>
          <p:cNvSpPr/>
          <p:nvPr/>
        </p:nvSpPr>
        <p:spPr>
          <a:xfrm>
            <a:off x="6519505" y="4602242"/>
            <a:ext cx="595313" cy="22860"/>
          </a:xfrm>
          <a:prstGeom prst="roundRect">
            <a:avLst>
              <a:gd name="adj" fmla="val 364651"/>
            </a:avLst>
          </a:prstGeom>
          <a:solidFill>
            <a:srgbClr val="BDB8DF"/>
          </a:solidFill>
          <a:ln/>
        </p:spPr>
        <p:txBody>
          <a:bodyPr/>
          <a:lstStyle/>
          <a:p>
            <a:endParaRPr lang="en-IN"/>
          </a:p>
        </p:txBody>
      </p:sp>
      <p:sp>
        <p:nvSpPr>
          <p:cNvPr id="15" name="Shape 13"/>
          <p:cNvSpPr/>
          <p:nvPr/>
        </p:nvSpPr>
        <p:spPr>
          <a:xfrm>
            <a:off x="7091958" y="4390430"/>
            <a:ext cx="446484" cy="446484"/>
          </a:xfrm>
          <a:prstGeom prst="roundRect">
            <a:avLst>
              <a:gd name="adj" fmla="val 18670"/>
            </a:avLst>
          </a:prstGeom>
          <a:solidFill>
            <a:srgbClr val="E9E6FA"/>
          </a:solidFill>
          <a:ln w="7620">
            <a:solidFill>
              <a:srgbClr val="BDB8DF"/>
            </a:solidFill>
            <a:prstDash val="solid"/>
          </a:ln>
        </p:spPr>
        <p:txBody>
          <a:bodyPr/>
          <a:lstStyle/>
          <a:p>
            <a:endParaRPr lang="en-IN"/>
          </a:p>
        </p:txBody>
      </p:sp>
      <p:sp>
        <p:nvSpPr>
          <p:cNvPr id="16" name="Text 14"/>
          <p:cNvSpPr/>
          <p:nvPr/>
        </p:nvSpPr>
        <p:spPr>
          <a:xfrm>
            <a:off x="7166372" y="4427637"/>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3</a:t>
            </a:r>
            <a:endParaRPr lang="en-US" sz="2300" dirty="0"/>
          </a:p>
        </p:txBody>
      </p:sp>
      <p:sp>
        <p:nvSpPr>
          <p:cNvPr id="17" name="Text 15"/>
          <p:cNvSpPr/>
          <p:nvPr/>
        </p:nvSpPr>
        <p:spPr>
          <a:xfrm>
            <a:off x="3540204" y="4458653"/>
            <a:ext cx="2782729" cy="310158"/>
          </a:xfrm>
          <a:prstGeom prst="rect">
            <a:avLst/>
          </a:prstGeom>
          <a:noFill/>
          <a:ln/>
        </p:spPr>
        <p:txBody>
          <a:bodyPr wrap="none" lIns="0" tIns="0" rIns="0" bIns="0" rtlCol="0" anchor="t"/>
          <a:lstStyle/>
          <a:p>
            <a:pPr marL="0" indent="0" algn="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Hyperparameter Tuning</a:t>
            </a:r>
            <a:endParaRPr lang="en-US" sz="1950" dirty="0"/>
          </a:p>
        </p:txBody>
      </p:sp>
      <p:sp>
        <p:nvSpPr>
          <p:cNvPr id="18" name="Text 16"/>
          <p:cNvSpPr/>
          <p:nvPr/>
        </p:nvSpPr>
        <p:spPr>
          <a:xfrm>
            <a:off x="793790" y="4887873"/>
            <a:ext cx="5529143" cy="952619"/>
          </a:xfrm>
          <a:prstGeom prst="rect">
            <a:avLst/>
          </a:prstGeom>
          <a:noFill/>
          <a:ln/>
        </p:spPr>
        <p:txBody>
          <a:bodyPr wrap="square" lIns="0" tIns="0" rIns="0" bIns="0" rtlCol="0" anchor="t"/>
          <a:lstStyle/>
          <a:p>
            <a:pPr marL="0" indent="0" algn="r">
              <a:lnSpc>
                <a:spcPts val="2500"/>
              </a:lnSpc>
              <a:buNone/>
            </a:pPr>
            <a:r>
              <a:rPr lang="en-US" sz="1550" dirty="0">
                <a:solidFill>
                  <a:srgbClr val="2A2742"/>
                </a:solidFill>
                <a:latin typeface="Arimo" pitchFamily="34" charset="0"/>
                <a:ea typeface="Arimo" pitchFamily="34" charset="-122"/>
                <a:cs typeface="Arimo" pitchFamily="34" charset="-120"/>
              </a:rPr>
              <a:t>Systematically tested combinations of batch sizes, learning rates, and optimizers. Evaluated each configuration to identify optimal settings for both models.</a:t>
            </a:r>
            <a:endParaRPr lang="en-US" sz="1550" dirty="0"/>
          </a:p>
        </p:txBody>
      </p:sp>
      <p:sp>
        <p:nvSpPr>
          <p:cNvPr id="19" name="Shape 17"/>
          <p:cNvSpPr/>
          <p:nvPr/>
        </p:nvSpPr>
        <p:spPr>
          <a:xfrm>
            <a:off x="7515582" y="5628680"/>
            <a:ext cx="595313" cy="22860"/>
          </a:xfrm>
          <a:prstGeom prst="roundRect">
            <a:avLst>
              <a:gd name="adj" fmla="val 364651"/>
            </a:avLst>
          </a:prstGeom>
          <a:solidFill>
            <a:srgbClr val="BDB8DF"/>
          </a:solidFill>
          <a:ln/>
        </p:spPr>
        <p:txBody>
          <a:bodyPr/>
          <a:lstStyle/>
          <a:p>
            <a:endParaRPr lang="en-IN"/>
          </a:p>
        </p:txBody>
      </p:sp>
      <p:sp>
        <p:nvSpPr>
          <p:cNvPr id="20" name="Shape 18"/>
          <p:cNvSpPr/>
          <p:nvPr/>
        </p:nvSpPr>
        <p:spPr>
          <a:xfrm>
            <a:off x="7091958" y="5416867"/>
            <a:ext cx="446484" cy="446484"/>
          </a:xfrm>
          <a:prstGeom prst="roundRect">
            <a:avLst>
              <a:gd name="adj" fmla="val 18670"/>
            </a:avLst>
          </a:prstGeom>
          <a:solidFill>
            <a:srgbClr val="E9E6FA"/>
          </a:solidFill>
          <a:ln w="7620">
            <a:solidFill>
              <a:srgbClr val="BDB8DF"/>
            </a:solidFill>
            <a:prstDash val="solid"/>
          </a:ln>
        </p:spPr>
        <p:txBody>
          <a:bodyPr/>
          <a:lstStyle/>
          <a:p>
            <a:endParaRPr lang="en-IN"/>
          </a:p>
        </p:txBody>
      </p:sp>
      <p:sp>
        <p:nvSpPr>
          <p:cNvPr id="21" name="Text 19"/>
          <p:cNvSpPr/>
          <p:nvPr/>
        </p:nvSpPr>
        <p:spPr>
          <a:xfrm>
            <a:off x="7166372" y="5454075"/>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2A2742"/>
                </a:solidFill>
                <a:latin typeface="Outfit Extra Bold" pitchFamily="34" charset="0"/>
                <a:ea typeface="Outfit Extra Bold" pitchFamily="34" charset="-122"/>
                <a:cs typeface="Outfit Extra Bold" pitchFamily="34" charset="-120"/>
              </a:rPr>
              <a:t>4</a:t>
            </a:r>
            <a:endParaRPr lang="en-US" sz="2300" dirty="0"/>
          </a:p>
        </p:txBody>
      </p:sp>
      <p:sp>
        <p:nvSpPr>
          <p:cNvPr id="22" name="Text 20"/>
          <p:cNvSpPr/>
          <p:nvPr/>
        </p:nvSpPr>
        <p:spPr>
          <a:xfrm>
            <a:off x="8307467" y="5485090"/>
            <a:ext cx="2547818"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Performance Analysis</a:t>
            </a:r>
            <a:endParaRPr lang="en-US" sz="1950" dirty="0"/>
          </a:p>
        </p:txBody>
      </p:sp>
      <p:sp>
        <p:nvSpPr>
          <p:cNvPr id="23" name="Text 21"/>
          <p:cNvSpPr/>
          <p:nvPr/>
        </p:nvSpPr>
        <p:spPr>
          <a:xfrm>
            <a:off x="8307467" y="5914311"/>
            <a:ext cx="5529143" cy="95261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Generated confusion matrices for both models to visualize classification performance across all classes and identify common misclassification patterns.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36752"/>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Results &amp; Findings</a:t>
            </a:r>
            <a:endParaRPr lang="en-US" sz="3900" dirty="0"/>
          </a:p>
        </p:txBody>
      </p:sp>
      <p:sp>
        <p:nvSpPr>
          <p:cNvPr id="3" name="Shape 1"/>
          <p:cNvSpPr/>
          <p:nvPr/>
        </p:nvSpPr>
        <p:spPr>
          <a:xfrm>
            <a:off x="793790" y="2752844"/>
            <a:ext cx="5458063" cy="248007"/>
          </a:xfrm>
          <a:prstGeom prst="roundRect">
            <a:avLst>
              <a:gd name="adj" fmla="val 33612"/>
            </a:avLst>
          </a:prstGeom>
          <a:solidFill>
            <a:srgbClr val="E9E6FA"/>
          </a:solidFill>
          <a:ln w="7620">
            <a:solidFill>
              <a:srgbClr val="BDB8DF"/>
            </a:solidFill>
            <a:prstDash val="solid"/>
          </a:ln>
        </p:spPr>
        <p:txBody>
          <a:bodyPr/>
          <a:lstStyle/>
          <a:p>
            <a:endParaRPr lang="en-IN"/>
          </a:p>
        </p:txBody>
      </p:sp>
      <p:sp>
        <p:nvSpPr>
          <p:cNvPr id="4" name="Shape 2"/>
          <p:cNvSpPr/>
          <p:nvPr/>
        </p:nvSpPr>
        <p:spPr>
          <a:xfrm>
            <a:off x="793790" y="2752844"/>
            <a:ext cx="4762619" cy="248007"/>
          </a:xfrm>
          <a:prstGeom prst="roundRect">
            <a:avLst>
              <a:gd name="adj" fmla="val 33612"/>
            </a:avLst>
          </a:prstGeom>
          <a:solidFill>
            <a:srgbClr val="5E4CE6"/>
          </a:solidFill>
          <a:ln/>
        </p:spPr>
        <p:txBody>
          <a:bodyPr/>
          <a:lstStyle/>
          <a:p>
            <a:endParaRPr lang="en-IN"/>
          </a:p>
        </p:txBody>
      </p:sp>
      <p:sp>
        <p:nvSpPr>
          <p:cNvPr id="5" name="Text 3"/>
          <p:cNvSpPr/>
          <p:nvPr/>
        </p:nvSpPr>
        <p:spPr>
          <a:xfrm>
            <a:off x="6400681" y="2752844"/>
            <a:ext cx="790456" cy="248007"/>
          </a:xfrm>
          <a:prstGeom prst="rect">
            <a:avLst/>
          </a:prstGeom>
          <a:noFill/>
          <a:ln/>
        </p:spPr>
        <p:txBody>
          <a:bodyPr wrap="none" lIns="0" tIns="0" rIns="0" bIns="0" rtlCol="0" anchor="t"/>
          <a:lstStyle/>
          <a:p>
            <a:pPr marL="0" indent="0" algn="ctr">
              <a:lnSpc>
                <a:spcPts val="1950"/>
              </a:lnSpc>
              <a:buNone/>
            </a:pPr>
            <a:r>
              <a:rPr lang="en-US" sz="1950" b="1" dirty="0">
                <a:solidFill>
                  <a:srgbClr val="2A2742"/>
                </a:solidFill>
                <a:latin typeface="Outfit Extra Bold" pitchFamily="34" charset="0"/>
                <a:ea typeface="Outfit Extra Bold" pitchFamily="34" charset="-122"/>
                <a:cs typeface="Outfit Extra Bold" pitchFamily="34" charset="-120"/>
              </a:rPr>
              <a:t>87.26%</a:t>
            </a:r>
            <a:endParaRPr lang="en-US" sz="1950" dirty="0"/>
          </a:p>
        </p:txBody>
      </p:sp>
      <p:sp>
        <p:nvSpPr>
          <p:cNvPr id="6" name="Text 4"/>
          <p:cNvSpPr/>
          <p:nvPr/>
        </p:nvSpPr>
        <p:spPr>
          <a:xfrm>
            <a:off x="2752011" y="3248858"/>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ANN Initial Accuracy</a:t>
            </a:r>
            <a:endParaRPr lang="en-US" sz="1950" dirty="0"/>
          </a:p>
        </p:txBody>
      </p:sp>
      <p:sp>
        <p:nvSpPr>
          <p:cNvPr id="7" name="Text 5"/>
          <p:cNvSpPr/>
          <p:nvPr/>
        </p:nvSpPr>
        <p:spPr>
          <a:xfrm>
            <a:off x="793790" y="3678079"/>
            <a:ext cx="6397347" cy="317540"/>
          </a:xfrm>
          <a:prstGeom prst="rect">
            <a:avLst/>
          </a:prstGeom>
          <a:noFill/>
          <a:ln/>
        </p:spPr>
        <p:txBody>
          <a:bodyPr wrap="none" lIns="0" tIns="0" rIns="0" bIns="0" rtlCol="0" anchor="t"/>
          <a:lstStyle/>
          <a:p>
            <a:pPr marL="0" indent="0" algn="ctr">
              <a:lnSpc>
                <a:spcPts val="2500"/>
              </a:lnSpc>
              <a:buNone/>
            </a:pPr>
            <a:r>
              <a:rPr lang="en-US" sz="1550" dirty="0">
                <a:solidFill>
                  <a:srgbClr val="2A2742"/>
                </a:solidFill>
                <a:latin typeface="Arimo" pitchFamily="34" charset="0"/>
                <a:ea typeface="Arimo" pitchFamily="34" charset="-122"/>
                <a:cs typeface="Arimo" pitchFamily="34" charset="-120"/>
              </a:rPr>
              <a:t>Baseline performance of the Artificial Neural Network model</a:t>
            </a:r>
            <a:endParaRPr lang="en-US" sz="1550" dirty="0"/>
          </a:p>
        </p:txBody>
      </p:sp>
      <p:sp>
        <p:nvSpPr>
          <p:cNvPr id="8" name="Shape 6"/>
          <p:cNvSpPr/>
          <p:nvPr/>
        </p:nvSpPr>
        <p:spPr>
          <a:xfrm>
            <a:off x="7439144" y="2752844"/>
            <a:ext cx="5430441" cy="248007"/>
          </a:xfrm>
          <a:prstGeom prst="roundRect">
            <a:avLst>
              <a:gd name="adj" fmla="val 33612"/>
            </a:avLst>
          </a:prstGeom>
          <a:solidFill>
            <a:srgbClr val="E9E6FA"/>
          </a:solidFill>
          <a:ln w="7620">
            <a:solidFill>
              <a:srgbClr val="BDB8DF"/>
            </a:solidFill>
            <a:prstDash val="solid"/>
          </a:ln>
        </p:spPr>
        <p:txBody>
          <a:bodyPr/>
          <a:lstStyle/>
          <a:p>
            <a:endParaRPr lang="en-IN"/>
          </a:p>
        </p:txBody>
      </p:sp>
      <p:sp>
        <p:nvSpPr>
          <p:cNvPr id="9" name="Shape 7"/>
          <p:cNvSpPr/>
          <p:nvPr/>
        </p:nvSpPr>
        <p:spPr>
          <a:xfrm>
            <a:off x="7439144" y="2752844"/>
            <a:ext cx="5024199" cy="248007"/>
          </a:xfrm>
          <a:prstGeom prst="roundRect">
            <a:avLst>
              <a:gd name="adj" fmla="val 33612"/>
            </a:avLst>
          </a:prstGeom>
          <a:solidFill>
            <a:srgbClr val="5E4CE6"/>
          </a:solidFill>
          <a:ln/>
        </p:spPr>
        <p:txBody>
          <a:bodyPr/>
          <a:lstStyle/>
          <a:p>
            <a:endParaRPr lang="en-IN"/>
          </a:p>
        </p:txBody>
      </p:sp>
      <p:sp>
        <p:nvSpPr>
          <p:cNvPr id="10" name="Text 8"/>
          <p:cNvSpPr/>
          <p:nvPr/>
        </p:nvSpPr>
        <p:spPr>
          <a:xfrm>
            <a:off x="13018413" y="2752844"/>
            <a:ext cx="818198" cy="248007"/>
          </a:xfrm>
          <a:prstGeom prst="rect">
            <a:avLst/>
          </a:prstGeom>
          <a:noFill/>
          <a:ln/>
        </p:spPr>
        <p:txBody>
          <a:bodyPr wrap="none" lIns="0" tIns="0" rIns="0" bIns="0" rtlCol="0" anchor="t"/>
          <a:lstStyle/>
          <a:p>
            <a:pPr marL="0" indent="0" algn="ctr">
              <a:lnSpc>
                <a:spcPts val="1950"/>
              </a:lnSpc>
              <a:buNone/>
            </a:pPr>
            <a:r>
              <a:rPr lang="en-US" sz="1950" b="1" dirty="0">
                <a:solidFill>
                  <a:srgbClr val="2A2742"/>
                </a:solidFill>
                <a:latin typeface="Outfit Extra Bold" pitchFamily="34" charset="0"/>
                <a:ea typeface="Outfit Extra Bold" pitchFamily="34" charset="-122"/>
                <a:cs typeface="Outfit Extra Bold" pitchFamily="34" charset="-120"/>
              </a:rPr>
              <a:t>92.52%</a:t>
            </a:r>
            <a:endParaRPr lang="en-US" sz="1950" dirty="0"/>
          </a:p>
        </p:txBody>
      </p:sp>
      <p:sp>
        <p:nvSpPr>
          <p:cNvPr id="11" name="Text 9"/>
          <p:cNvSpPr/>
          <p:nvPr/>
        </p:nvSpPr>
        <p:spPr>
          <a:xfrm>
            <a:off x="9397365" y="3248858"/>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CNN Initial Accuracy</a:t>
            </a:r>
            <a:endParaRPr lang="en-US" sz="1950" dirty="0"/>
          </a:p>
        </p:txBody>
      </p:sp>
      <p:sp>
        <p:nvSpPr>
          <p:cNvPr id="12" name="Text 10"/>
          <p:cNvSpPr/>
          <p:nvPr/>
        </p:nvSpPr>
        <p:spPr>
          <a:xfrm>
            <a:off x="7439144" y="3678079"/>
            <a:ext cx="6397466" cy="317540"/>
          </a:xfrm>
          <a:prstGeom prst="rect">
            <a:avLst/>
          </a:prstGeom>
          <a:noFill/>
          <a:ln/>
        </p:spPr>
        <p:txBody>
          <a:bodyPr wrap="none" lIns="0" tIns="0" rIns="0" bIns="0" rtlCol="0" anchor="t"/>
          <a:lstStyle/>
          <a:p>
            <a:pPr marL="0" indent="0" algn="ctr">
              <a:lnSpc>
                <a:spcPts val="2500"/>
              </a:lnSpc>
              <a:buNone/>
            </a:pPr>
            <a:r>
              <a:rPr lang="en-US" sz="1550" dirty="0">
                <a:solidFill>
                  <a:srgbClr val="2A2742"/>
                </a:solidFill>
                <a:latin typeface="Arimo" pitchFamily="34" charset="0"/>
                <a:ea typeface="Arimo" pitchFamily="34" charset="-122"/>
                <a:cs typeface="Arimo" pitchFamily="34" charset="-120"/>
              </a:rPr>
              <a:t>Baseline performance of the Convolutional Neural Network model</a:t>
            </a:r>
            <a:endParaRPr lang="en-US" sz="1550" dirty="0"/>
          </a:p>
        </p:txBody>
      </p:sp>
      <p:sp>
        <p:nvSpPr>
          <p:cNvPr id="13" name="Shape 11"/>
          <p:cNvSpPr/>
          <p:nvPr/>
        </p:nvSpPr>
        <p:spPr>
          <a:xfrm>
            <a:off x="793790" y="4491633"/>
            <a:ext cx="5430798" cy="248007"/>
          </a:xfrm>
          <a:prstGeom prst="roundRect">
            <a:avLst>
              <a:gd name="adj" fmla="val 33612"/>
            </a:avLst>
          </a:prstGeom>
          <a:solidFill>
            <a:srgbClr val="E9E6FA"/>
          </a:solidFill>
          <a:ln w="7620">
            <a:solidFill>
              <a:srgbClr val="BDB8DF"/>
            </a:solidFill>
            <a:prstDash val="solid"/>
          </a:ln>
        </p:spPr>
        <p:txBody>
          <a:bodyPr/>
          <a:lstStyle/>
          <a:p>
            <a:endParaRPr lang="en-IN"/>
          </a:p>
        </p:txBody>
      </p:sp>
      <p:sp>
        <p:nvSpPr>
          <p:cNvPr id="14" name="Shape 12"/>
          <p:cNvSpPr/>
          <p:nvPr/>
        </p:nvSpPr>
        <p:spPr>
          <a:xfrm>
            <a:off x="793790" y="4491633"/>
            <a:ext cx="4702493" cy="248007"/>
          </a:xfrm>
          <a:prstGeom prst="roundRect">
            <a:avLst>
              <a:gd name="adj" fmla="val 33612"/>
            </a:avLst>
          </a:prstGeom>
          <a:solidFill>
            <a:srgbClr val="5E4CE6"/>
          </a:solidFill>
          <a:ln/>
        </p:spPr>
        <p:txBody>
          <a:bodyPr/>
          <a:lstStyle/>
          <a:p>
            <a:endParaRPr lang="en-IN"/>
          </a:p>
        </p:txBody>
      </p:sp>
      <p:sp>
        <p:nvSpPr>
          <p:cNvPr id="15" name="Text 13"/>
          <p:cNvSpPr/>
          <p:nvPr/>
        </p:nvSpPr>
        <p:spPr>
          <a:xfrm>
            <a:off x="6373416" y="4491633"/>
            <a:ext cx="817721" cy="248007"/>
          </a:xfrm>
          <a:prstGeom prst="rect">
            <a:avLst/>
          </a:prstGeom>
          <a:noFill/>
          <a:ln/>
        </p:spPr>
        <p:txBody>
          <a:bodyPr wrap="none" lIns="0" tIns="0" rIns="0" bIns="0" rtlCol="0" anchor="t"/>
          <a:lstStyle/>
          <a:p>
            <a:pPr marL="0" indent="0" algn="ctr">
              <a:lnSpc>
                <a:spcPts val="1950"/>
              </a:lnSpc>
              <a:buNone/>
            </a:pPr>
            <a:r>
              <a:rPr lang="en-US" sz="1950" b="1" dirty="0">
                <a:solidFill>
                  <a:srgbClr val="2A2742"/>
                </a:solidFill>
                <a:latin typeface="Outfit Extra Bold" pitchFamily="34" charset="0"/>
                <a:ea typeface="Outfit Extra Bold" pitchFamily="34" charset="-122"/>
                <a:cs typeface="Outfit Extra Bold" pitchFamily="34" charset="-120"/>
              </a:rPr>
              <a:t>86.59%</a:t>
            </a:r>
            <a:endParaRPr lang="en-US" sz="1950" dirty="0"/>
          </a:p>
        </p:txBody>
      </p:sp>
      <p:sp>
        <p:nvSpPr>
          <p:cNvPr id="16" name="Text 14"/>
          <p:cNvSpPr/>
          <p:nvPr/>
        </p:nvSpPr>
        <p:spPr>
          <a:xfrm>
            <a:off x="2752011" y="4987647"/>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Best ANN Tuned</a:t>
            </a:r>
            <a:endParaRPr lang="en-US" sz="1950" dirty="0"/>
          </a:p>
        </p:txBody>
      </p:sp>
      <p:sp>
        <p:nvSpPr>
          <p:cNvPr id="17" name="Text 15"/>
          <p:cNvSpPr/>
          <p:nvPr/>
        </p:nvSpPr>
        <p:spPr>
          <a:xfrm>
            <a:off x="793790" y="5416867"/>
            <a:ext cx="6397347" cy="317540"/>
          </a:xfrm>
          <a:prstGeom prst="rect">
            <a:avLst/>
          </a:prstGeom>
          <a:noFill/>
          <a:ln/>
        </p:spPr>
        <p:txBody>
          <a:bodyPr wrap="none" lIns="0" tIns="0" rIns="0" bIns="0" rtlCol="0" anchor="t"/>
          <a:lstStyle/>
          <a:p>
            <a:pPr marL="0" indent="0" algn="ctr">
              <a:lnSpc>
                <a:spcPts val="2500"/>
              </a:lnSpc>
              <a:buNone/>
            </a:pPr>
            <a:r>
              <a:rPr lang="en-US" sz="1550" dirty="0">
                <a:solidFill>
                  <a:srgbClr val="2A2742"/>
                </a:solidFill>
                <a:latin typeface="Arimo" pitchFamily="34" charset="0"/>
                <a:ea typeface="Arimo" pitchFamily="34" charset="-122"/>
                <a:cs typeface="Arimo" pitchFamily="34" charset="-120"/>
              </a:rPr>
              <a:t>Optimal configuration: Batch=32, LR=0.001, RMSprop</a:t>
            </a:r>
            <a:endParaRPr lang="en-US" sz="1550" dirty="0"/>
          </a:p>
        </p:txBody>
      </p:sp>
      <p:sp>
        <p:nvSpPr>
          <p:cNvPr id="18" name="Shape 16"/>
          <p:cNvSpPr/>
          <p:nvPr/>
        </p:nvSpPr>
        <p:spPr>
          <a:xfrm>
            <a:off x="7439144" y="4491633"/>
            <a:ext cx="5466874" cy="248007"/>
          </a:xfrm>
          <a:prstGeom prst="roundRect">
            <a:avLst>
              <a:gd name="adj" fmla="val 33612"/>
            </a:avLst>
          </a:prstGeom>
          <a:solidFill>
            <a:srgbClr val="E9E6FA"/>
          </a:solidFill>
          <a:ln w="7620">
            <a:solidFill>
              <a:srgbClr val="BDB8DF"/>
            </a:solidFill>
            <a:prstDash val="solid"/>
          </a:ln>
        </p:spPr>
        <p:txBody>
          <a:bodyPr/>
          <a:lstStyle/>
          <a:p>
            <a:endParaRPr lang="en-IN"/>
          </a:p>
        </p:txBody>
      </p:sp>
      <p:sp>
        <p:nvSpPr>
          <p:cNvPr id="19" name="Shape 17"/>
          <p:cNvSpPr/>
          <p:nvPr/>
        </p:nvSpPr>
        <p:spPr>
          <a:xfrm>
            <a:off x="7439144" y="4491633"/>
            <a:ext cx="4993362" cy="248007"/>
          </a:xfrm>
          <a:prstGeom prst="roundRect">
            <a:avLst>
              <a:gd name="adj" fmla="val 33612"/>
            </a:avLst>
          </a:prstGeom>
          <a:solidFill>
            <a:srgbClr val="5E4CE6"/>
          </a:solidFill>
          <a:ln/>
        </p:spPr>
        <p:txBody>
          <a:bodyPr/>
          <a:lstStyle/>
          <a:p>
            <a:endParaRPr lang="en-IN"/>
          </a:p>
        </p:txBody>
      </p:sp>
      <p:sp>
        <p:nvSpPr>
          <p:cNvPr id="20" name="Text 18"/>
          <p:cNvSpPr/>
          <p:nvPr/>
        </p:nvSpPr>
        <p:spPr>
          <a:xfrm>
            <a:off x="13054846" y="4491633"/>
            <a:ext cx="781764" cy="248007"/>
          </a:xfrm>
          <a:prstGeom prst="rect">
            <a:avLst/>
          </a:prstGeom>
          <a:noFill/>
          <a:ln/>
        </p:spPr>
        <p:txBody>
          <a:bodyPr wrap="none" lIns="0" tIns="0" rIns="0" bIns="0" rtlCol="0" anchor="t"/>
          <a:lstStyle/>
          <a:p>
            <a:pPr marL="0" indent="0" algn="ctr">
              <a:lnSpc>
                <a:spcPts val="1950"/>
              </a:lnSpc>
              <a:buNone/>
            </a:pPr>
            <a:r>
              <a:rPr lang="en-US" sz="1950" b="1" dirty="0">
                <a:solidFill>
                  <a:srgbClr val="2A2742"/>
                </a:solidFill>
                <a:latin typeface="Outfit Extra Bold" pitchFamily="34" charset="0"/>
                <a:ea typeface="Outfit Extra Bold" pitchFamily="34" charset="-122"/>
                <a:cs typeface="Outfit Extra Bold" pitchFamily="34" charset="-120"/>
              </a:rPr>
              <a:t>91.34%</a:t>
            </a:r>
            <a:endParaRPr lang="en-US" sz="1950" dirty="0"/>
          </a:p>
        </p:txBody>
      </p:sp>
      <p:sp>
        <p:nvSpPr>
          <p:cNvPr id="21" name="Text 19"/>
          <p:cNvSpPr/>
          <p:nvPr/>
        </p:nvSpPr>
        <p:spPr>
          <a:xfrm>
            <a:off x="9397365" y="4987647"/>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Best CNN Tuned</a:t>
            </a:r>
            <a:endParaRPr lang="en-US" sz="1950" dirty="0"/>
          </a:p>
        </p:txBody>
      </p:sp>
      <p:sp>
        <p:nvSpPr>
          <p:cNvPr id="22" name="Text 20"/>
          <p:cNvSpPr/>
          <p:nvPr/>
        </p:nvSpPr>
        <p:spPr>
          <a:xfrm>
            <a:off x="7439144" y="5416867"/>
            <a:ext cx="6397466" cy="317540"/>
          </a:xfrm>
          <a:prstGeom prst="rect">
            <a:avLst/>
          </a:prstGeom>
          <a:noFill/>
          <a:ln/>
        </p:spPr>
        <p:txBody>
          <a:bodyPr wrap="none" lIns="0" tIns="0" rIns="0" bIns="0" rtlCol="0" anchor="t"/>
          <a:lstStyle/>
          <a:p>
            <a:pPr marL="0" indent="0" algn="ctr">
              <a:lnSpc>
                <a:spcPts val="2500"/>
              </a:lnSpc>
              <a:buNone/>
            </a:pPr>
            <a:r>
              <a:rPr lang="en-US" sz="1550" dirty="0">
                <a:solidFill>
                  <a:srgbClr val="2A2742"/>
                </a:solidFill>
                <a:latin typeface="Arimo" pitchFamily="34" charset="0"/>
                <a:ea typeface="Arimo" pitchFamily="34" charset="-122"/>
                <a:cs typeface="Arimo" pitchFamily="34" charset="-120"/>
              </a:rPr>
              <a:t>Optimal configuration: Batch=64, LR=0.001, RMSprop</a:t>
            </a:r>
            <a:endParaRPr lang="en-US" sz="1550" dirty="0"/>
          </a:p>
        </p:txBody>
      </p:sp>
      <p:sp>
        <p:nvSpPr>
          <p:cNvPr id="23" name="Text 21"/>
          <p:cNvSpPr/>
          <p:nvPr/>
        </p:nvSpPr>
        <p:spPr>
          <a:xfrm>
            <a:off x="793790" y="595764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The CNN model consistently outperformed the ANN model at every evaluation stage. Hyperparameter tuning identified RMSprop optimizer with learning rate 0.001 as optimal for both architectures, though with different batch sizes.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453872"/>
            <a:ext cx="6285071"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Discussion &amp; Interpretation</a:t>
            </a:r>
            <a:endParaRPr lang="en-US" sz="3900" dirty="0"/>
          </a:p>
        </p:txBody>
      </p:sp>
      <p:sp>
        <p:nvSpPr>
          <p:cNvPr id="3" name="Text 1"/>
          <p:cNvSpPr/>
          <p:nvPr/>
        </p:nvSpPr>
        <p:spPr>
          <a:xfrm>
            <a:off x="793790" y="215324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Key Insights</a:t>
            </a:r>
            <a:endParaRPr lang="en-US" sz="2300" dirty="0"/>
          </a:p>
        </p:txBody>
      </p:sp>
      <p:sp>
        <p:nvSpPr>
          <p:cNvPr id="4" name="Shape 2"/>
          <p:cNvSpPr/>
          <p:nvPr/>
        </p:nvSpPr>
        <p:spPr>
          <a:xfrm>
            <a:off x="793790" y="2822972"/>
            <a:ext cx="4215289" cy="3094434"/>
          </a:xfrm>
          <a:prstGeom prst="roundRect">
            <a:avLst>
              <a:gd name="adj" fmla="val 3546"/>
            </a:avLst>
          </a:prstGeom>
          <a:solidFill>
            <a:srgbClr val="FAFAFA">
              <a:alpha val="95000"/>
            </a:srgbClr>
          </a:solidFill>
          <a:ln w="22860">
            <a:solidFill>
              <a:srgbClr val="BDB8DF"/>
            </a:solidFill>
            <a:prstDash val="solid"/>
          </a:ln>
        </p:spPr>
        <p:txBody>
          <a:bodyPr/>
          <a:lstStyle/>
          <a:p>
            <a:endParaRPr lang="en-IN"/>
          </a:p>
        </p:txBody>
      </p:sp>
      <p:sp>
        <p:nvSpPr>
          <p:cNvPr id="5" name="Shape 3"/>
          <p:cNvSpPr/>
          <p:nvPr/>
        </p:nvSpPr>
        <p:spPr>
          <a:xfrm>
            <a:off x="770930" y="2822972"/>
            <a:ext cx="91440" cy="3094434"/>
          </a:xfrm>
          <a:prstGeom prst="roundRect">
            <a:avLst>
              <a:gd name="adj" fmla="val 91163"/>
            </a:avLst>
          </a:prstGeom>
          <a:solidFill>
            <a:srgbClr val="5E4CE6"/>
          </a:solidFill>
          <a:ln/>
        </p:spPr>
        <p:txBody>
          <a:bodyPr/>
          <a:lstStyle/>
          <a:p>
            <a:endParaRPr lang="en-IN"/>
          </a:p>
        </p:txBody>
      </p:sp>
      <p:sp>
        <p:nvSpPr>
          <p:cNvPr id="6" name="Text 4"/>
          <p:cNvSpPr/>
          <p:nvPr/>
        </p:nvSpPr>
        <p:spPr>
          <a:xfrm>
            <a:off x="1083588" y="3044190"/>
            <a:ext cx="3186946"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CNN Superiority Confirmed</a:t>
            </a:r>
            <a:endParaRPr lang="en-US" sz="1950" dirty="0"/>
          </a:p>
        </p:txBody>
      </p:sp>
      <p:sp>
        <p:nvSpPr>
          <p:cNvPr id="7" name="Text 5"/>
          <p:cNvSpPr/>
          <p:nvPr/>
        </p:nvSpPr>
        <p:spPr>
          <a:xfrm>
            <a:off x="1083588" y="3473410"/>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The convolutional architecture's ability to capture spatial hierarchies and local patterns in images resulted in consistently higher accuracy. CNNs excel at extracting relevant features from image data through their specialized layers.</a:t>
            </a:r>
            <a:endParaRPr lang="en-US" sz="1550" dirty="0"/>
          </a:p>
        </p:txBody>
      </p:sp>
      <p:sp>
        <p:nvSpPr>
          <p:cNvPr id="8" name="Shape 6"/>
          <p:cNvSpPr/>
          <p:nvPr/>
        </p:nvSpPr>
        <p:spPr>
          <a:xfrm>
            <a:off x="5207437" y="2822972"/>
            <a:ext cx="4215408" cy="3094434"/>
          </a:xfrm>
          <a:prstGeom prst="roundRect">
            <a:avLst>
              <a:gd name="adj" fmla="val 3546"/>
            </a:avLst>
          </a:prstGeom>
          <a:solidFill>
            <a:srgbClr val="FAFAFA">
              <a:alpha val="95000"/>
            </a:srgbClr>
          </a:solidFill>
          <a:ln w="22860">
            <a:solidFill>
              <a:srgbClr val="BDB8DF"/>
            </a:solidFill>
            <a:prstDash val="solid"/>
          </a:ln>
        </p:spPr>
        <p:txBody>
          <a:bodyPr/>
          <a:lstStyle/>
          <a:p>
            <a:endParaRPr lang="en-IN"/>
          </a:p>
        </p:txBody>
      </p:sp>
      <p:sp>
        <p:nvSpPr>
          <p:cNvPr id="9" name="Shape 7"/>
          <p:cNvSpPr/>
          <p:nvPr/>
        </p:nvSpPr>
        <p:spPr>
          <a:xfrm>
            <a:off x="5184577" y="2822972"/>
            <a:ext cx="91440" cy="3094434"/>
          </a:xfrm>
          <a:prstGeom prst="roundRect">
            <a:avLst>
              <a:gd name="adj" fmla="val 91163"/>
            </a:avLst>
          </a:prstGeom>
          <a:solidFill>
            <a:srgbClr val="5E4CE6"/>
          </a:solidFill>
          <a:ln/>
        </p:spPr>
        <p:txBody>
          <a:bodyPr/>
          <a:lstStyle/>
          <a:p>
            <a:endParaRPr lang="en-IN"/>
          </a:p>
        </p:txBody>
      </p:sp>
      <p:sp>
        <p:nvSpPr>
          <p:cNvPr id="10" name="Text 8"/>
          <p:cNvSpPr/>
          <p:nvPr/>
        </p:nvSpPr>
        <p:spPr>
          <a:xfrm>
            <a:off x="5497235" y="3044190"/>
            <a:ext cx="2827139"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Hyperparameter Impact</a:t>
            </a:r>
            <a:endParaRPr lang="en-US" sz="1950" dirty="0"/>
          </a:p>
        </p:txBody>
      </p:sp>
      <p:sp>
        <p:nvSpPr>
          <p:cNvPr id="11" name="Text 9"/>
          <p:cNvSpPr/>
          <p:nvPr/>
        </p:nvSpPr>
        <p:spPr>
          <a:xfrm>
            <a:off x="5497235" y="3473410"/>
            <a:ext cx="3704392" cy="2222778"/>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The choice of optimizer and learning rate significantly influenced model performance. RMSprop with learning rate 0.001 emerged as the optimal combination for both architectures, demonstrating the critical importance of systematic tuning.</a:t>
            </a:r>
            <a:endParaRPr lang="en-US" sz="1550" dirty="0"/>
          </a:p>
        </p:txBody>
      </p:sp>
      <p:sp>
        <p:nvSpPr>
          <p:cNvPr id="12" name="Shape 10"/>
          <p:cNvSpPr/>
          <p:nvPr/>
        </p:nvSpPr>
        <p:spPr>
          <a:xfrm>
            <a:off x="9621203" y="2822972"/>
            <a:ext cx="4215289" cy="3094434"/>
          </a:xfrm>
          <a:prstGeom prst="roundRect">
            <a:avLst>
              <a:gd name="adj" fmla="val 3546"/>
            </a:avLst>
          </a:prstGeom>
          <a:solidFill>
            <a:srgbClr val="FAFAFA">
              <a:alpha val="95000"/>
            </a:srgbClr>
          </a:solidFill>
          <a:ln w="22860">
            <a:solidFill>
              <a:srgbClr val="BDB8DF"/>
            </a:solidFill>
            <a:prstDash val="solid"/>
          </a:ln>
        </p:spPr>
        <p:txBody>
          <a:bodyPr/>
          <a:lstStyle/>
          <a:p>
            <a:endParaRPr lang="en-IN"/>
          </a:p>
        </p:txBody>
      </p:sp>
      <p:sp>
        <p:nvSpPr>
          <p:cNvPr id="13" name="Shape 11"/>
          <p:cNvSpPr/>
          <p:nvPr/>
        </p:nvSpPr>
        <p:spPr>
          <a:xfrm>
            <a:off x="9598343" y="2822972"/>
            <a:ext cx="91440" cy="3094434"/>
          </a:xfrm>
          <a:prstGeom prst="roundRect">
            <a:avLst>
              <a:gd name="adj" fmla="val 91163"/>
            </a:avLst>
          </a:prstGeom>
          <a:solidFill>
            <a:srgbClr val="5E4CE6"/>
          </a:solidFill>
          <a:ln/>
        </p:spPr>
        <p:txBody>
          <a:bodyPr/>
          <a:lstStyle/>
          <a:p>
            <a:endParaRPr lang="en-IN"/>
          </a:p>
        </p:txBody>
      </p:sp>
      <p:sp>
        <p:nvSpPr>
          <p:cNvPr id="14" name="Text 12"/>
          <p:cNvSpPr/>
          <p:nvPr/>
        </p:nvSpPr>
        <p:spPr>
          <a:xfrm>
            <a:off x="9911001" y="3044190"/>
            <a:ext cx="3154918"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Common Misclassifications</a:t>
            </a:r>
            <a:endParaRPr lang="en-US" sz="1950" dirty="0"/>
          </a:p>
        </p:txBody>
      </p:sp>
      <p:sp>
        <p:nvSpPr>
          <p:cNvPr id="15" name="Text 13"/>
          <p:cNvSpPr/>
          <p:nvPr/>
        </p:nvSpPr>
        <p:spPr>
          <a:xfrm>
            <a:off x="9911001" y="3473410"/>
            <a:ext cx="3704273" cy="2222778"/>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Confusion matrices revealed that both models struggled with visually similar items. The ANN confused 'Shirt' and 'Coat' 44 times, while the CNN made the same error 76 times, highlighting areas where additional training data or feature engineering could improve performance.</a:t>
            </a:r>
            <a:endParaRPr lang="en-US" sz="1550" dirty="0"/>
          </a:p>
        </p:txBody>
      </p:sp>
      <p:sp>
        <p:nvSpPr>
          <p:cNvPr id="16" name="Text 14"/>
          <p:cNvSpPr/>
          <p:nvPr/>
        </p:nvSpPr>
        <p:spPr>
          <a:xfrm>
            <a:off x="793790" y="6140648"/>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A2742"/>
                </a:solidFill>
                <a:latin typeface="Arimo" pitchFamily="34" charset="0"/>
                <a:ea typeface="Arimo" pitchFamily="34" charset="-122"/>
                <a:cs typeface="Arimo" pitchFamily="34" charset="-120"/>
              </a:rPr>
              <a:t>Challenges Encountered:</a:t>
            </a:r>
            <a:r>
              <a:rPr lang="en-US" sz="1550" dirty="0">
                <a:solidFill>
                  <a:srgbClr val="2A2742"/>
                </a:solidFill>
                <a:latin typeface="Arimo" pitchFamily="34" charset="0"/>
                <a:ea typeface="Arimo" pitchFamily="34" charset="-122"/>
                <a:cs typeface="Arimo" pitchFamily="34" charset="-120"/>
              </a:rPr>
              <a:t> Initial hyperparameter configurations didn't always yield improvements, requiring systematic exploration of the parameter space. The trade-off between training time and accuracy required careful consideration.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58058"/>
            <a:ext cx="5259586"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Conclusion &amp; Summary</a:t>
            </a:r>
            <a:endParaRPr lang="en-US" sz="3900" dirty="0"/>
          </a:p>
        </p:txBody>
      </p:sp>
      <p:sp>
        <p:nvSpPr>
          <p:cNvPr id="3" name="Text 1"/>
          <p:cNvSpPr/>
          <p:nvPr/>
        </p:nvSpPr>
        <p:spPr>
          <a:xfrm>
            <a:off x="793790" y="1774150"/>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What Was Achieved</a:t>
            </a:r>
            <a:endParaRPr lang="en-US" sz="2300" dirty="0"/>
          </a:p>
        </p:txBody>
      </p:sp>
      <p:sp>
        <p:nvSpPr>
          <p:cNvPr id="4" name="Text 2"/>
          <p:cNvSpPr/>
          <p:nvPr/>
        </p:nvSpPr>
        <p:spPr>
          <a:xfrm>
            <a:off x="793790" y="2344579"/>
            <a:ext cx="7632025" cy="95261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This project successfully demonstrated the superiority of Convolutional Neural Networks for image classification tasks. The CNN achieved 91.34% accuracy on Fashion-MNIST, significantly outperforming the ANN's 86.59% accuracy.</a:t>
            </a:r>
            <a:endParaRPr lang="en-US" sz="1550" dirty="0"/>
          </a:p>
        </p:txBody>
      </p:sp>
      <p:sp>
        <p:nvSpPr>
          <p:cNvPr id="5" name="Text 3"/>
          <p:cNvSpPr/>
          <p:nvPr/>
        </p:nvSpPr>
        <p:spPr>
          <a:xfrm>
            <a:off x="793790" y="3475792"/>
            <a:ext cx="7632025" cy="317540"/>
          </a:xfrm>
          <a:prstGeom prst="rect">
            <a:avLst/>
          </a:prstGeom>
          <a:noFill/>
          <a:ln/>
        </p:spPr>
        <p:txBody>
          <a:bodyPr wrap="none" lIns="0" tIns="0" rIns="0" bIns="0" rtlCol="0" anchor="t"/>
          <a:lstStyle/>
          <a:p>
            <a:pPr marL="0" indent="0" algn="l">
              <a:lnSpc>
                <a:spcPts val="2500"/>
              </a:lnSpc>
              <a:buNone/>
            </a:pPr>
            <a:r>
              <a:rPr lang="en-US" sz="1550" b="1" dirty="0">
                <a:solidFill>
                  <a:srgbClr val="2A2742"/>
                </a:solidFill>
                <a:latin typeface="Arimo" pitchFamily="34" charset="0"/>
                <a:ea typeface="Arimo" pitchFamily="34" charset="-122"/>
                <a:cs typeface="Arimo" pitchFamily="34" charset="-120"/>
              </a:rPr>
              <a:t>Key Learnings:</a:t>
            </a:r>
            <a:endParaRPr lang="en-US" sz="1550" dirty="0"/>
          </a:p>
        </p:txBody>
      </p:sp>
      <p:sp>
        <p:nvSpPr>
          <p:cNvPr id="6" name="Text 4"/>
          <p:cNvSpPr/>
          <p:nvPr/>
        </p:nvSpPr>
        <p:spPr>
          <a:xfrm>
            <a:off x="793790" y="3971925"/>
            <a:ext cx="7632025"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CNNs are fundamentally better suited for image data due to their spatial feature extraction capabilities</a:t>
            </a:r>
            <a:endParaRPr lang="en-US" sz="1550" dirty="0"/>
          </a:p>
        </p:txBody>
      </p:sp>
      <p:sp>
        <p:nvSpPr>
          <p:cNvPr id="7" name="Text 5"/>
          <p:cNvSpPr/>
          <p:nvPr/>
        </p:nvSpPr>
        <p:spPr>
          <a:xfrm>
            <a:off x="793790" y="4676418"/>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Hyperparameter tuning is essential for optimizing model performance</a:t>
            </a:r>
            <a:endParaRPr lang="en-US" sz="1550" dirty="0"/>
          </a:p>
        </p:txBody>
      </p:sp>
      <p:sp>
        <p:nvSpPr>
          <p:cNvPr id="8" name="Text 6"/>
          <p:cNvSpPr/>
          <p:nvPr/>
        </p:nvSpPr>
        <p:spPr>
          <a:xfrm>
            <a:off x="793790" y="5063371"/>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RMSprop optimizer with learning rate 0.001 proved most effective</a:t>
            </a:r>
            <a:endParaRPr lang="en-US" sz="1550" dirty="0"/>
          </a:p>
        </p:txBody>
      </p:sp>
      <p:sp>
        <p:nvSpPr>
          <p:cNvPr id="9" name="Text 7"/>
          <p:cNvSpPr/>
          <p:nvPr/>
        </p:nvSpPr>
        <p:spPr>
          <a:xfrm>
            <a:off x="793790" y="5450324"/>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A2742"/>
                </a:solidFill>
                <a:latin typeface="Arimo" pitchFamily="34" charset="0"/>
                <a:ea typeface="Arimo" pitchFamily="34" charset="-122"/>
                <a:cs typeface="Arimo" pitchFamily="34" charset="-120"/>
              </a:rPr>
              <a:t>Confusion matrices provide valuable insights into model weaknesses</a:t>
            </a:r>
            <a:endParaRPr lang="en-US" sz="1550" dirty="0"/>
          </a:p>
        </p:txBody>
      </p:sp>
      <p:sp>
        <p:nvSpPr>
          <p:cNvPr id="10" name="Text 8"/>
          <p:cNvSpPr/>
          <p:nvPr/>
        </p:nvSpPr>
        <p:spPr>
          <a:xfrm>
            <a:off x="10160198" y="3088958"/>
            <a:ext cx="2441138" cy="496133"/>
          </a:xfrm>
          <a:prstGeom prst="rect">
            <a:avLst/>
          </a:prstGeom>
          <a:noFill/>
          <a:ln/>
        </p:spPr>
        <p:txBody>
          <a:bodyPr wrap="none" lIns="0" tIns="0" rIns="0" bIns="0" rtlCol="0" anchor="t"/>
          <a:lstStyle/>
          <a:p>
            <a:pPr marL="0" indent="0" algn="ctr">
              <a:lnSpc>
                <a:spcPts val="3900"/>
              </a:lnSpc>
              <a:buNone/>
            </a:pPr>
            <a:r>
              <a:rPr lang="en-US" sz="3900" b="1" dirty="0">
                <a:solidFill>
                  <a:srgbClr val="2A2742"/>
                </a:solidFill>
                <a:latin typeface="Outfit Extra Bold" pitchFamily="34" charset="0"/>
                <a:ea typeface="Outfit Extra Bold" pitchFamily="34" charset="-122"/>
                <a:cs typeface="Outfit Extra Bold" pitchFamily="34" charset="-120"/>
              </a:rPr>
              <a:t>91.34%</a:t>
            </a:r>
            <a:endParaRPr lang="en-US" sz="3900" dirty="0"/>
          </a:p>
        </p:txBody>
      </p:sp>
      <p:pic>
        <p:nvPicPr>
          <p:cNvPr id="11" name="Image 0" descr="preencoded.png"/>
          <p:cNvPicPr>
            <a:picLocks noChangeAspect="1"/>
          </p:cNvPicPr>
          <p:nvPr/>
        </p:nvPicPr>
        <p:blipFill>
          <a:blip r:embed="rId3"/>
          <a:stretch>
            <a:fillRect/>
          </a:stretch>
        </p:blipFill>
        <p:spPr>
          <a:xfrm>
            <a:off x="9892308" y="1848564"/>
            <a:ext cx="2977039" cy="2977039"/>
          </a:xfrm>
          <a:prstGeom prst="rect">
            <a:avLst/>
          </a:prstGeom>
        </p:spPr>
      </p:pic>
      <p:sp>
        <p:nvSpPr>
          <p:cNvPr id="12" name="Text 9"/>
          <p:cNvSpPr/>
          <p:nvPr/>
        </p:nvSpPr>
        <p:spPr>
          <a:xfrm>
            <a:off x="10140315" y="5073491"/>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Best Accuracy</a:t>
            </a:r>
            <a:endParaRPr lang="en-US" sz="1950" dirty="0"/>
          </a:p>
        </p:txBody>
      </p:sp>
      <p:sp>
        <p:nvSpPr>
          <p:cNvPr id="13" name="Text 10"/>
          <p:cNvSpPr/>
          <p:nvPr/>
        </p:nvSpPr>
        <p:spPr>
          <a:xfrm>
            <a:off x="8917543" y="5582007"/>
            <a:ext cx="4926568" cy="317540"/>
          </a:xfrm>
          <a:prstGeom prst="rect">
            <a:avLst/>
          </a:prstGeom>
          <a:noFill/>
          <a:ln/>
        </p:spPr>
        <p:txBody>
          <a:bodyPr wrap="none" lIns="0" tIns="0" rIns="0" bIns="0" rtlCol="0" anchor="t"/>
          <a:lstStyle/>
          <a:p>
            <a:pPr marL="0" indent="0" algn="ctr">
              <a:lnSpc>
                <a:spcPts val="2500"/>
              </a:lnSpc>
              <a:buNone/>
            </a:pPr>
            <a:r>
              <a:rPr lang="en-US" sz="1550" dirty="0">
                <a:solidFill>
                  <a:srgbClr val="2A2742"/>
                </a:solidFill>
                <a:latin typeface="Arimo" pitchFamily="34" charset="0"/>
                <a:ea typeface="Arimo" pitchFamily="34" charset="-122"/>
                <a:cs typeface="Arimo" pitchFamily="34" charset="-120"/>
              </a:rPr>
              <a:t>CNN Performance</a:t>
            </a:r>
            <a:endParaRPr lang="en-US" sz="1550" dirty="0"/>
          </a:p>
        </p:txBody>
      </p:sp>
      <p:sp>
        <p:nvSpPr>
          <p:cNvPr id="14" name="Text 11"/>
          <p:cNvSpPr/>
          <p:nvPr/>
        </p:nvSpPr>
        <p:spPr>
          <a:xfrm>
            <a:off x="8917543" y="6122789"/>
            <a:ext cx="4926568" cy="127015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This work contributes to understanding how different neural network architectures handle image classification and provides practical insights into hyperparameter optimization strategies.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41653"/>
            <a:ext cx="7658933" cy="620078"/>
          </a:xfrm>
          <a:prstGeom prst="rect">
            <a:avLst/>
          </a:prstGeom>
          <a:noFill/>
          <a:ln/>
        </p:spPr>
        <p:txBody>
          <a:bodyPr wrap="none" lIns="0" tIns="0" rIns="0" bIns="0" rtlCol="0" anchor="t"/>
          <a:lstStyle/>
          <a:p>
            <a:pPr marL="0" indent="0" algn="l">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Future Work &amp; Acknowledgments</a:t>
            </a:r>
            <a:endParaRPr lang="en-US" sz="3900" dirty="0"/>
          </a:p>
        </p:txBody>
      </p:sp>
      <p:pic>
        <p:nvPicPr>
          <p:cNvPr id="3" name="Image 0" descr="preencoded.png"/>
          <p:cNvPicPr>
            <a:picLocks noChangeAspect="1"/>
          </p:cNvPicPr>
          <p:nvPr/>
        </p:nvPicPr>
        <p:blipFill>
          <a:blip r:embed="rId3"/>
          <a:stretch>
            <a:fillRect/>
          </a:stretch>
        </p:blipFill>
        <p:spPr>
          <a:xfrm>
            <a:off x="793790" y="1858566"/>
            <a:ext cx="992267" cy="1190744"/>
          </a:xfrm>
          <a:prstGeom prst="rect">
            <a:avLst/>
          </a:prstGeom>
        </p:spPr>
      </p:pic>
      <p:sp>
        <p:nvSpPr>
          <p:cNvPr id="4" name="Text 1"/>
          <p:cNvSpPr/>
          <p:nvPr/>
        </p:nvSpPr>
        <p:spPr>
          <a:xfrm>
            <a:off x="1984415" y="205692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Extended Training</a:t>
            </a:r>
            <a:endParaRPr lang="en-US" sz="1950" dirty="0"/>
          </a:p>
        </p:txBody>
      </p:sp>
      <p:sp>
        <p:nvSpPr>
          <p:cNvPr id="5" name="Text 2"/>
          <p:cNvSpPr/>
          <p:nvPr/>
        </p:nvSpPr>
        <p:spPr>
          <a:xfrm>
            <a:off x="1984415" y="2486144"/>
            <a:ext cx="11852196" cy="317540"/>
          </a:xfrm>
          <a:prstGeom prst="rect">
            <a:avLst/>
          </a:prstGeom>
          <a:noFill/>
          <a:ln/>
        </p:spPr>
        <p:txBody>
          <a:bodyPr wrap="non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Increase number of epochs to potentially achieve higher accuracy with tuned hyperparameters</a:t>
            </a:r>
            <a:endParaRPr lang="en-US" sz="1550" dirty="0"/>
          </a:p>
        </p:txBody>
      </p:sp>
      <p:pic>
        <p:nvPicPr>
          <p:cNvPr id="6" name="Image 1" descr="preencoded.png"/>
          <p:cNvPicPr>
            <a:picLocks noChangeAspect="1"/>
          </p:cNvPicPr>
          <p:nvPr/>
        </p:nvPicPr>
        <p:blipFill>
          <a:blip r:embed="rId4"/>
          <a:stretch>
            <a:fillRect/>
          </a:stretch>
        </p:blipFill>
        <p:spPr>
          <a:xfrm>
            <a:off x="793790" y="3049310"/>
            <a:ext cx="992267" cy="1190744"/>
          </a:xfrm>
          <a:prstGeom prst="rect">
            <a:avLst/>
          </a:prstGeom>
        </p:spPr>
      </p:pic>
      <p:sp>
        <p:nvSpPr>
          <p:cNvPr id="7" name="Text 3"/>
          <p:cNvSpPr/>
          <p:nvPr/>
        </p:nvSpPr>
        <p:spPr>
          <a:xfrm>
            <a:off x="1984415" y="3247668"/>
            <a:ext cx="2484358"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Deeper Architectures</a:t>
            </a:r>
            <a:endParaRPr lang="en-US" sz="1950" dirty="0"/>
          </a:p>
        </p:txBody>
      </p:sp>
      <p:sp>
        <p:nvSpPr>
          <p:cNvPr id="8" name="Text 4"/>
          <p:cNvSpPr/>
          <p:nvPr/>
        </p:nvSpPr>
        <p:spPr>
          <a:xfrm>
            <a:off x="1984415" y="3676888"/>
            <a:ext cx="11852196" cy="317540"/>
          </a:xfrm>
          <a:prstGeom prst="rect">
            <a:avLst/>
          </a:prstGeom>
          <a:noFill/>
          <a:ln/>
        </p:spPr>
        <p:txBody>
          <a:bodyPr wrap="non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Explore more complex CNN architectures with additional convolutional and pooling layers</a:t>
            </a:r>
            <a:endParaRPr lang="en-US" sz="1550" dirty="0"/>
          </a:p>
        </p:txBody>
      </p:sp>
      <p:pic>
        <p:nvPicPr>
          <p:cNvPr id="9" name="Image 2" descr="preencoded.png"/>
          <p:cNvPicPr>
            <a:picLocks noChangeAspect="1"/>
          </p:cNvPicPr>
          <p:nvPr/>
        </p:nvPicPr>
        <p:blipFill>
          <a:blip r:embed="rId5"/>
          <a:stretch>
            <a:fillRect/>
          </a:stretch>
        </p:blipFill>
        <p:spPr>
          <a:xfrm>
            <a:off x="793790" y="4240054"/>
            <a:ext cx="992267" cy="1190744"/>
          </a:xfrm>
          <a:prstGeom prst="rect">
            <a:avLst/>
          </a:prstGeom>
        </p:spPr>
      </p:pic>
      <p:sp>
        <p:nvSpPr>
          <p:cNvPr id="10" name="Text 5"/>
          <p:cNvSpPr/>
          <p:nvPr/>
        </p:nvSpPr>
        <p:spPr>
          <a:xfrm>
            <a:off x="1984415" y="443841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Data Augmentation</a:t>
            </a:r>
            <a:endParaRPr lang="en-US" sz="1950" dirty="0"/>
          </a:p>
        </p:txBody>
      </p:sp>
      <p:sp>
        <p:nvSpPr>
          <p:cNvPr id="11" name="Text 6"/>
          <p:cNvSpPr/>
          <p:nvPr/>
        </p:nvSpPr>
        <p:spPr>
          <a:xfrm>
            <a:off x="1984415" y="4867632"/>
            <a:ext cx="11852196" cy="317540"/>
          </a:xfrm>
          <a:prstGeom prst="rect">
            <a:avLst/>
          </a:prstGeom>
          <a:noFill/>
          <a:ln/>
        </p:spPr>
        <p:txBody>
          <a:bodyPr wrap="non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Implement image augmentation techniques to improve model generalization and reduce misclassifications</a:t>
            </a:r>
            <a:endParaRPr lang="en-US" sz="1550" dirty="0"/>
          </a:p>
        </p:txBody>
      </p:sp>
      <p:sp>
        <p:nvSpPr>
          <p:cNvPr id="12" name="Shape 7"/>
          <p:cNvSpPr/>
          <p:nvPr/>
        </p:nvSpPr>
        <p:spPr>
          <a:xfrm>
            <a:off x="793790" y="5753188"/>
            <a:ext cx="13042821" cy="32385"/>
          </a:xfrm>
          <a:prstGeom prst="rect">
            <a:avLst/>
          </a:prstGeom>
          <a:solidFill>
            <a:srgbClr val="2A2742">
              <a:alpha val="50000"/>
            </a:srgbClr>
          </a:solidFill>
          <a:ln/>
        </p:spPr>
        <p:txBody>
          <a:bodyPr/>
          <a:lstStyle/>
          <a:p>
            <a:endParaRPr lang="en-IN"/>
          </a:p>
        </p:txBody>
      </p:sp>
      <p:sp>
        <p:nvSpPr>
          <p:cNvPr id="13" name="Text 8"/>
          <p:cNvSpPr/>
          <p:nvPr/>
        </p:nvSpPr>
        <p:spPr>
          <a:xfrm>
            <a:off x="793790" y="608314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31971"/>
                </a:solidFill>
                <a:latin typeface="Outfit Extra Bold" pitchFamily="34" charset="0"/>
                <a:ea typeface="Outfit Extra Bold" pitchFamily="34" charset="-122"/>
                <a:cs typeface="Outfit Extra Bold" pitchFamily="34" charset="-120"/>
              </a:rPr>
              <a:t>Acknowledgments</a:t>
            </a:r>
            <a:endParaRPr lang="en-US" sz="2300" dirty="0"/>
          </a:p>
        </p:txBody>
      </p:sp>
      <p:sp>
        <p:nvSpPr>
          <p:cNvPr id="14" name="Text 9"/>
          <p:cNvSpPr/>
          <p:nvPr/>
        </p:nvSpPr>
        <p:spPr>
          <a:xfrm>
            <a:off x="793790" y="675286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A2742"/>
                </a:solidFill>
                <a:latin typeface="Arimo" pitchFamily="34" charset="0"/>
                <a:ea typeface="Arimo" pitchFamily="34" charset="-122"/>
                <a:cs typeface="Arimo" pitchFamily="34" charset="-120"/>
              </a:rPr>
              <a:t>Special thanks to the Fashion-MNIST dataset creators for providing an excellent benchmark for image classification research. Gratitude to the open-source deep learning community for tools and frameworks that made this work possible.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787610"/>
            <a:ext cx="13042821" cy="1860590"/>
          </a:xfrm>
          <a:prstGeom prst="rect">
            <a:avLst/>
          </a:prstGeom>
          <a:noFill/>
          <a:ln/>
        </p:spPr>
        <p:txBody>
          <a:bodyPr wrap="none" lIns="0" tIns="0" rIns="0" bIns="0" rtlCol="0" anchor="t"/>
          <a:lstStyle/>
          <a:p>
            <a:pPr marL="0" indent="0" algn="l">
              <a:lnSpc>
                <a:spcPts val="14650"/>
              </a:lnSpc>
              <a:buNone/>
            </a:pPr>
            <a:r>
              <a:rPr lang="en-US" sz="11700" b="1" dirty="0">
                <a:solidFill>
                  <a:srgbClr val="231971"/>
                </a:solidFill>
                <a:latin typeface="Outfit Extra Bold" pitchFamily="34" charset="0"/>
                <a:ea typeface="Outfit Extra Bold" pitchFamily="34" charset="-122"/>
                <a:cs typeface="Outfit Extra Bold" pitchFamily="34" charset="-120"/>
              </a:rPr>
              <a:t>Thank You</a:t>
            </a:r>
            <a:endParaRPr lang="en-US" sz="11700" dirty="0"/>
          </a:p>
        </p:txBody>
      </p:sp>
      <p:sp>
        <p:nvSpPr>
          <p:cNvPr id="3" name="Text 1"/>
          <p:cNvSpPr/>
          <p:nvPr/>
        </p:nvSpPr>
        <p:spPr>
          <a:xfrm>
            <a:off x="793790" y="5045035"/>
            <a:ext cx="13042821" cy="396954"/>
          </a:xfrm>
          <a:prstGeom prst="rect">
            <a:avLst/>
          </a:prstGeom>
          <a:noFill/>
          <a:ln/>
        </p:spPr>
        <p:txBody>
          <a:bodyPr wrap="none" lIns="0" tIns="0" rIns="0" bIns="0" rtlCol="0" anchor="t"/>
          <a:lstStyle/>
          <a:p>
            <a:pPr marL="0" indent="0" algn="l">
              <a:lnSpc>
                <a:spcPts val="3100"/>
              </a:lnSpc>
              <a:buNone/>
            </a:pPr>
            <a:r>
              <a:rPr lang="en-US" sz="1950" dirty="0">
                <a:solidFill>
                  <a:srgbClr val="2A2742"/>
                </a:solidFill>
                <a:latin typeface="Arimo" pitchFamily="34" charset="0"/>
                <a:ea typeface="Arimo" pitchFamily="34" charset="-122"/>
                <a:cs typeface="Arimo" pitchFamily="34" charset="-120"/>
              </a:rPr>
              <a:t>Questions &amp; Discussion Welcome</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960</Words>
  <Application>Microsoft Office PowerPoint</Application>
  <PresentationFormat>Custom</PresentationFormat>
  <Paragraphs>106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Arimo</vt:lpstr>
      <vt:lpstr>Arial</vt:lpstr>
      <vt:lpstr>Outfit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Jahnavi Kodi</cp:lastModifiedBy>
  <cp:revision>1</cp:revision>
  <dcterms:created xsi:type="dcterms:W3CDTF">2025-11-02T16:58:50Z</dcterms:created>
  <dcterms:modified xsi:type="dcterms:W3CDTF">2025-11-02T17:06:35Z</dcterms:modified>
</cp:coreProperties>
</file>